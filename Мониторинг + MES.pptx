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2" r:id="rId2"/>
    <p:sldId id="306" r:id="rId3"/>
    <p:sldId id="307" r:id="rId4"/>
    <p:sldId id="308" r:id="rId5"/>
    <p:sldId id="309" r:id="rId6"/>
  </p:sldIdLst>
  <p:sldSz cx="16130588" cy="9144000"/>
  <p:notesSz cx="9144000" cy="161305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44A7"/>
    <a:srgbClr val="EDF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13" autoAdjust="0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930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E2D72-5320-CFAF-1775-7EB54B1F7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0A4FF-1B8A-9654-FBD1-5B531EDD5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C3F48-5729-4ACD-C1E6-C192B8130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E3321-78B3-159B-3CE1-2A400A99A7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83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46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E2D72-5320-CFAF-1775-7EB54B1F7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0A4FF-1B8A-9654-FBD1-5B531EDD5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C3F48-5729-4ACD-C1E6-C192B8130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E3321-78B3-159B-3CE1-2A400A99A7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83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E2D72-5320-CFAF-1775-7EB54B1F7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0A4FF-1B8A-9654-FBD1-5B531EDD5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C3F48-5729-4ACD-C1E6-C192B8130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E3321-78B3-159B-3CE1-2A400A99A7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232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1">
            <a:extLst>
              <a:ext uri="{FF2B5EF4-FFF2-40B4-BE49-F238E27FC236}">
                <a16:creationId xmlns:a16="http://schemas.microsoft.com/office/drawing/2014/main" id="{71E8A2C4-B085-496F-B41E-0AB4B7E44934}"/>
              </a:ext>
            </a:extLst>
          </p:cNvPr>
          <p:cNvSpPr/>
          <p:nvPr/>
        </p:nvSpPr>
        <p:spPr>
          <a:xfrm>
            <a:off x="762048" y="647700"/>
            <a:ext cx="970341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ru-RU" sz="3000" dirty="0">
                <a:solidFill>
                  <a:srgbClr val="16161A">
                    <a:alpha val="100000"/>
                  </a:srgbClr>
                </a:solidFill>
                <a:ea typeface="Cygre Bold" pitchFamily="34" charset="-122"/>
                <a:cs typeface="Cygre Bold" pitchFamily="34" charset="-120"/>
              </a:rPr>
              <a:t>Мониторинговый центр инфраструктуры АЗС</a:t>
            </a:r>
            <a:endParaRPr lang="en-US" sz="3000" dirty="0"/>
          </a:p>
        </p:txBody>
      </p:sp>
      <p:sp>
        <p:nvSpPr>
          <p:cNvPr id="57" name="Text 2">
            <a:extLst>
              <a:ext uri="{FF2B5EF4-FFF2-40B4-BE49-F238E27FC236}">
                <a16:creationId xmlns:a16="http://schemas.microsoft.com/office/drawing/2014/main" id="{650DEAC6-CDB1-4ADD-9B36-E6F5E2F3405C}"/>
              </a:ext>
            </a:extLst>
          </p:cNvPr>
          <p:cNvSpPr/>
          <p:nvPr/>
        </p:nvSpPr>
        <p:spPr>
          <a:xfrm>
            <a:off x="762047" y="1562100"/>
            <a:ext cx="2764923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ru-RU" sz="2000" b="1" dirty="0">
                <a:solidFill>
                  <a:srgbClr val="16161A">
                    <a:alpha val="100000"/>
                  </a:srgbClr>
                </a:solidFill>
                <a:ea typeface="Cygre SemiBold SemiBold" pitchFamily="34" charset="-122"/>
                <a:cs typeface="Cygre SemiBold SemiBold" pitchFamily="34" charset="-120"/>
              </a:rPr>
              <a:t>Описание решения</a:t>
            </a:r>
            <a:endParaRPr lang="en-US" sz="2000" b="1" dirty="0"/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530FF9DB-380A-4147-9E4F-9C0973E26CBB}"/>
              </a:ext>
            </a:extLst>
          </p:cNvPr>
          <p:cNvSpPr/>
          <p:nvPr/>
        </p:nvSpPr>
        <p:spPr>
          <a:xfrm>
            <a:off x="762048" y="2044700"/>
            <a:ext cx="7154043" cy="196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ru-RU" sz="16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Единая платформа мониторинга активов АЗС и ключевых бизнес- процессов в реальном времени от момента слива топлива</a:t>
            </a:r>
            <a:br>
              <a:rPr lang="ru-RU" sz="16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</a:br>
            <a:r>
              <a:rPr lang="ru-RU" sz="16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в резервуар до его продажи клиенту. Автоматизация мониторинга</a:t>
            </a:r>
            <a:br>
              <a:rPr lang="ru-RU" sz="16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</a:br>
            <a:r>
              <a:rPr lang="ru-RU" sz="16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и предиктивная аналитика позволяют отслеживать в онлайн-режиме состояние оборудования и контролировать процессы эксплуатации АЗС, связанные с сохранностью и качеством топлива,</a:t>
            </a:r>
            <a:br>
              <a:rPr lang="ru-RU" sz="16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</a:br>
            <a:r>
              <a:rPr lang="ru-RU" sz="16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режимы работы насосов на АЗС.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C2C4905-9547-437C-1F33-2925475BE8F4}"/>
              </a:ext>
            </a:extLst>
          </p:cNvPr>
          <p:cNvSpPr/>
          <p:nvPr/>
        </p:nvSpPr>
        <p:spPr>
          <a:xfrm>
            <a:off x="762046" y="4248807"/>
            <a:ext cx="2764923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ru-RU" sz="2000" b="1" dirty="0">
                <a:solidFill>
                  <a:srgbClr val="16161A">
                    <a:alpha val="100000"/>
                  </a:srgbClr>
                </a:solidFill>
                <a:ea typeface="Cygre SemiBold SemiBold" pitchFamily="34" charset="-122"/>
                <a:cs typeface="Cygre SemiBold SemiBold" pitchFamily="34" charset="-120"/>
              </a:rPr>
              <a:t>Бизнес-эффекты</a:t>
            </a:r>
            <a:endParaRPr lang="en-US" sz="2000" b="1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6CB0ACD5-3EB0-DE4B-6538-A20757817092}"/>
              </a:ext>
            </a:extLst>
          </p:cNvPr>
          <p:cNvSpPr/>
          <p:nvPr/>
        </p:nvSpPr>
        <p:spPr>
          <a:xfrm>
            <a:off x="762047" y="4731407"/>
            <a:ext cx="7413034" cy="589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ru-RU" sz="16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Сокращение технологических потерь и недостач нефтепродуктов, выявление хищений, автоматическое выявление смешения топлива.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F049E3-038F-8089-19DA-27A8C88AC0B7}"/>
              </a:ext>
            </a:extLst>
          </p:cNvPr>
          <p:cNvSpPr txBox="1"/>
          <p:nvPr/>
        </p:nvSpPr>
        <p:spPr>
          <a:xfrm>
            <a:off x="722857" y="5365273"/>
            <a:ext cx="7303246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400" dirty="0">
                <a:solidFill>
                  <a:srgbClr val="16161A">
                    <a:alpha val="100000"/>
                  </a:srgbClr>
                </a:solidFill>
                <a:ea typeface="Cygre Bold" panose="02000803000000000000"/>
                <a:cs typeface="Open Sans Medium" pitchFamily="34" charset="-120"/>
              </a:rPr>
              <a:t>Контроль остатков в реальном времени.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400" dirty="0">
                <a:solidFill>
                  <a:srgbClr val="16161A">
                    <a:alpha val="100000"/>
                  </a:srgbClr>
                </a:solidFill>
                <a:ea typeface="Cygre Bold" panose="02000803000000000000"/>
                <a:cs typeface="Open Sans Medium" pitchFamily="34" charset="-120"/>
              </a:rPr>
              <a:t>Сокращение эксплуатационных простоев технологического и торгового оборудования до 30%.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400" dirty="0">
                <a:solidFill>
                  <a:srgbClr val="16161A">
                    <a:alpha val="100000"/>
                  </a:srgbClr>
                </a:solidFill>
                <a:ea typeface="Cygre Bold" panose="02000803000000000000"/>
                <a:cs typeface="Open Sans Medium" pitchFamily="34" charset="-120"/>
              </a:rPr>
              <a:t>Сокращение времени ремонтных работ до 21%.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400" dirty="0">
                <a:solidFill>
                  <a:srgbClr val="16161A">
                    <a:alpha val="100000"/>
                  </a:srgbClr>
                </a:solidFill>
                <a:ea typeface="Cygre Bold" panose="02000803000000000000"/>
                <a:cs typeface="Open Sans Medium" pitchFamily="34" charset="-120"/>
              </a:rPr>
              <a:t>Поддержание SLA на работу АЗС 99% и автоматическое выставление актов</a:t>
            </a:r>
            <a:br>
              <a:rPr lang="ru-RU" sz="1400" dirty="0">
                <a:solidFill>
                  <a:srgbClr val="16161A">
                    <a:alpha val="100000"/>
                  </a:srgbClr>
                </a:solidFill>
                <a:ea typeface="Cygre Bold" panose="02000803000000000000"/>
                <a:cs typeface="Open Sans Medium" pitchFamily="34" charset="-120"/>
              </a:rPr>
            </a:br>
            <a:r>
              <a:rPr lang="ru-RU" sz="1400" dirty="0">
                <a:solidFill>
                  <a:srgbClr val="16161A">
                    <a:alpha val="100000"/>
                  </a:srgbClr>
                </a:solidFill>
                <a:ea typeface="Cygre Bold" panose="02000803000000000000"/>
                <a:cs typeface="Open Sans Medium" pitchFamily="34" charset="-120"/>
              </a:rPr>
              <a:t>о нарушении SLA сервисным компаниям.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400" dirty="0">
                <a:solidFill>
                  <a:srgbClr val="16161A">
                    <a:alpha val="100000"/>
                  </a:srgbClr>
                </a:solidFill>
                <a:ea typeface="Cygre Bold" panose="02000803000000000000"/>
                <a:cs typeface="Open Sans Medium" pitchFamily="34" charset="-120"/>
              </a:rPr>
              <a:t>Снижение операционных расходов (</a:t>
            </a:r>
            <a:r>
              <a:rPr lang="en-US" sz="1400" dirty="0">
                <a:solidFill>
                  <a:srgbClr val="16161A">
                    <a:alpha val="100000"/>
                  </a:srgbClr>
                </a:solidFill>
                <a:ea typeface="Cygre Bold" panose="02000803000000000000"/>
                <a:cs typeface="Open Sans Medium" pitchFamily="34" charset="-120"/>
              </a:rPr>
              <a:t>OPEX) </a:t>
            </a:r>
            <a:r>
              <a:rPr lang="ru-RU" sz="1400" dirty="0">
                <a:solidFill>
                  <a:srgbClr val="16161A">
                    <a:alpha val="100000"/>
                  </a:srgbClr>
                </a:solidFill>
                <a:ea typeface="Cygre Bold" panose="02000803000000000000"/>
                <a:cs typeface="Open Sans Medium" pitchFamily="34" charset="-120"/>
              </a:rPr>
              <a:t>до 5%.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400" dirty="0">
                <a:solidFill>
                  <a:srgbClr val="16161A">
                    <a:alpha val="100000"/>
                  </a:srgbClr>
                </a:solidFill>
                <a:ea typeface="Cygre Bold" panose="02000803000000000000"/>
                <a:cs typeface="Open Sans Medium" pitchFamily="34" charset="-120"/>
              </a:rPr>
              <a:t>Снижение затрат на диспетчеризацию до 30%.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400" dirty="0">
                <a:solidFill>
                  <a:srgbClr val="16161A">
                    <a:alpha val="100000"/>
                  </a:srgbClr>
                </a:solidFill>
                <a:ea typeface="Cygre Bold" panose="02000803000000000000"/>
                <a:cs typeface="Open Sans Medium" pitchFamily="34" charset="-120"/>
              </a:rPr>
              <a:t>Снижение трудозатрат бизнес подразделений (автоматизация контрольных процедур, подачи заявок, заполнения журналов и отчетности, снижение нагрузки на персонал до 2 часов в сутки). 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400" dirty="0">
                <a:solidFill>
                  <a:srgbClr val="16161A">
                    <a:alpha val="100000"/>
                  </a:srgbClr>
                </a:solidFill>
                <a:ea typeface="Cygre Bold" panose="02000803000000000000"/>
                <a:cs typeface="Open Sans Medium" pitchFamily="34" charset="-120"/>
              </a:rPr>
              <a:t>Проведение внеочередного ТО/замены оборудования до момента поломки.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FEECEAA5-20F9-2F95-559D-7AFAF33D4E6B}"/>
              </a:ext>
            </a:extLst>
          </p:cNvPr>
          <p:cNvGrpSpPr/>
          <p:nvPr/>
        </p:nvGrpSpPr>
        <p:grpSpPr>
          <a:xfrm>
            <a:off x="8496835" y="1500325"/>
            <a:ext cx="2171165" cy="1128849"/>
            <a:chOff x="710850" y="3385583"/>
            <a:chExt cx="2171165" cy="1128849"/>
          </a:xfrm>
        </p:grpSpPr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22C9C151-6F12-D788-CA6F-C64019BB020A}"/>
                </a:ext>
              </a:extLst>
            </p:cNvPr>
            <p:cNvSpPr/>
            <p:nvPr/>
          </p:nvSpPr>
          <p:spPr>
            <a:xfrm>
              <a:off x="710850" y="3385583"/>
              <a:ext cx="2171165" cy="1081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7240"/>
                </a:lnSpc>
                <a:buNone/>
              </a:pPr>
              <a:r>
                <a:rPr lang="ru-RU" sz="4400" dirty="0">
                  <a:solidFill>
                    <a:srgbClr val="1444A7"/>
                  </a:solidFill>
                  <a:ea typeface="Poppins SemiBold" pitchFamily="34" charset="-122"/>
                  <a:cs typeface="Poppins SemiBold" pitchFamily="34" charset="-120"/>
                </a:rPr>
                <a:t>1500</a:t>
              </a:r>
            </a:p>
          </p:txBody>
        </p:sp>
        <p:sp>
          <p:nvSpPr>
            <p:cNvPr id="14" name="Text 4">
              <a:extLst>
                <a:ext uri="{FF2B5EF4-FFF2-40B4-BE49-F238E27FC236}">
                  <a16:creationId xmlns:a16="http://schemas.microsoft.com/office/drawing/2014/main" id="{7DDE6EB6-2416-F5A4-05D8-A76972C36ECB}"/>
                </a:ext>
              </a:extLst>
            </p:cNvPr>
            <p:cNvSpPr/>
            <p:nvPr/>
          </p:nvSpPr>
          <p:spPr>
            <a:xfrm>
              <a:off x="710850" y="4282334"/>
              <a:ext cx="2171165" cy="2320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ru-RU" sz="1400" dirty="0">
                  <a:solidFill>
                    <a:srgbClr val="1444A7"/>
                  </a:solidFill>
                  <a:ea typeface="Open Sans Medium" pitchFamily="34" charset="-122"/>
                  <a:cs typeface="Open Sans Medium" pitchFamily="34" charset="-120"/>
                </a:rPr>
                <a:t>АЗС подключено</a:t>
              </a: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1ADF0C54-70BB-7C8D-3166-F1FA5212E4D8}"/>
              </a:ext>
            </a:extLst>
          </p:cNvPr>
          <p:cNvGrpSpPr/>
          <p:nvPr/>
        </p:nvGrpSpPr>
        <p:grpSpPr>
          <a:xfrm>
            <a:off x="10714791" y="1500325"/>
            <a:ext cx="2171165" cy="1424179"/>
            <a:chOff x="710850" y="3385583"/>
            <a:chExt cx="2171165" cy="1424179"/>
          </a:xfrm>
        </p:grpSpPr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03142EB6-37D6-7C12-6B13-2EC705796837}"/>
                </a:ext>
              </a:extLst>
            </p:cNvPr>
            <p:cNvSpPr/>
            <p:nvPr/>
          </p:nvSpPr>
          <p:spPr>
            <a:xfrm>
              <a:off x="710850" y="3385583"/>
              <a:ext cx="2171165" cy="1081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7240"/>
                </a:lnSpc>
                <a:buNone/>
              </a:pPr>
              <a:r>
                <a:rPr lang="ru-RU" sz="4400" dirty="0">
                  <a:solidFill>
                    <a:srgbClr val="1444A7"/>
                  </a:solidFill>
                  <a:ea typeface="Poppins SemiBold" pitchFamily="34" charset="-122"/>
                  <a:cs typeface="Poppins SemiBold" pitchFamily="34" charset="-120"/>
                </a:rPr>
                <a:t>137 000</a:t>
              </a:r>
            </a:p>
          </p:txBody>
        </p:sp>
        <p:sp>
          <p:nvSpPr>
            <p:cNvPr id="17" name="Text 4">
              <a:extLst>
                <a:ext uri="{FF2B5EF4-FFF2-40B4-BE49-F238E27FC236}">
                  <a16:creationId xmlns:a16="http://schemas.microsoft.com/office/drawing/2014/main" id="{89670ED8-9B03-D1A8-9931-7CA05925C942}"/>
                </a:ext>
              </a:extLst>
            </p:cNvPr>
            <p:cNvSpPr/>
            <p:nvPr/>
          </p:nvSpPr>
          <p:spPr>
            <a:xfrm>
              <a:off x="710850" y="4282333"/>
              <a:ext cx="2171165" cy="527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ru-RU" sz="1400" dirty="0">
                  <a:solidFill>
                    <a:srgbClr val="1444A7"/>
                  </a:solidFill>
                  <a:ea typeface="Open Sans Medium" pitchFamily="34" charset="-122"/>
                  <a:cs typeface="Open Sans Medium" pitchFamily="34" charset="-120"/>
                </a:rPr>
                <a:t>единиц оборудования</a:t>
              </a:r>
              <a:br>
                <a:rPr lang="ru-RU" sz="1400" dirty="0">
                  <a:solidFill>
                    <a:srgbClr val="1444A7"/>
                  </a:solidFill>
                  <a:ea typeface="Open Sans Medium" pitchFamily="34" charset="-122"/>
                  <a:cs typeface="Open Sans Medium" pitchFamily="34" charset="-120"/>
                </a:rPr>
              </a:br>
              <a:r>
                <a:rPr lang="ru-RU" sz="1400" dirty="0">
                  <a:solidFill>
                    <a:srgbClr val="1444A7"/>
                  </a:solidFill>
                  <a:ea typeface="Open Sans Medium" pitchFamily="34" charset="-122"/>
                  <a:cs typeface="Open Sans Medium" pitchFamily="34" charset="-120"/>
                </a:rPr>
                <a:t>в мониторинге</a:t>
              </a: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1BBE6445-AD95-6B3E-E9AD-C0C508939FB1}"/>
              </a:ext>
            </a:extLst>
          </p:cNvPr>
          <p:cNvGrpSpPr/>
          <p:nvPr/>
        </p:nvGrpSpPr>
        <p:grpSpPr>
          <a:xfrm>
            <a:off x="13519977" y="1500325"/>
            <a:ext cx="2171165" cy="1424179"/>
            <a:chOff x="710850" y="3385583"/>
            <a:chExt cx="2171165" cy="1424179"/>
          </a:xfrm>
        </p:grpSpPr>
        <p:sp>
          <p:nvSpPr>
            <p:cNvPr id="19" name="Text 3">
              <a:extLst>
                <a:ext uri="{FF2B5EF4-FFF2-40B4-BE49-F238E27FC236}">
                  <a16:creationId xmlns:a16="http://schemas.microsoft.com/office/drawing/2014/main" id="{7FEA34F5-76E9-6D34-15AA-680D46BB47C1}"/>
                </a:ext>
              </a:extLst>
            </p:cNvPr>
            <p:cNvSpPr/>
            <p:nvPr/>
          </p:nvSpPr>
          <p:spPr>
            <a:xfrm>
              <a:off x="710850" y="3385583"/>
              <a:ext cx="2171165" cy="1081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7240"/>
                </a:lnSpc>
                <a:buNone/>
              </a:pPr>
              <a:r>
                <a:rPr lang="ru-RU" sz="4400" dirty="0">
                  <a:solidFill>
                    <a:srgbClr val="1444A7"/>
                  </a:solidFill>
                  <a:ea typeface="Poppins SemiBold" pitchFamily="34" charset="-122"/>
                  <a:cs typeface="Poppins SemiBold" pitchFamily="34" charset="-120"/>
                </a:rPr>
                <a:t>24</a:t>
              </a:r>
            </a:p>
          </p:txBody>
        </p:sp>
        <p:sp>
          <p:nvSpPr>
            <p:cNvPr id="20" name="Text 4">
              <a:extLst>
                <a:ext uri="{FF2B5EF4-FFF2-40B4-BE49-F238E27FC236}">
                  <a16:creationId xmlns:a16="http://schemas.microsoft.com/office/drawing/2014/main" id="{24EDB046-D91A-74BB-D7CF-F84F3C82497F}"/>
                </a:ext>
              </a:extLst>
            </p:cNvPr>
            <p:cNvSpPr/>
            <p:nvPr/>
          </p:nvSpPr>
          <p:spPr>
            <a:xfrm>
              <a:off x="710850" y="4282333"/>
              <a:ext cx="2171165" cy="527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ru-RU" sz="1400" dirty="0">
                  <a:solidFill>
                    <a:srgbClr val="1444A7"/>
                  </a:solidFill>
                  <a:ea typeface="Open Sans Medium" pitchFamily="34" charset="-122"/>
                  <a:cs typeface="Open Sans Medium" pitchFamily="34" charset="-120"/>
                </a:rPr>
                <a:t>интеграции со смежными системами </a:t>
              </a:r>
            </a:p>
          </p:txBody>
        </p:sp>
      </p:grp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35CB89B-96DA-BCBD-5302-CCB5F9B6F9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91" t="2237" r="5160"/>
          <a:stretch>
            <a:fillRect/>
          </a:stretch>
        </p:blipFill>
        <p:spPr>
          <a:xfrm>
            <a:off x="8496835" y="4008968"/>
            <a:ext cx="6833030" cy="4047012"/>
          </a:xfrm>
          <a:custGeom>
            <a:avLst/>
            <a:gdLst>
              <a:gd name="connsiteX0" fmla="*/ 232888 w 6833030"/>
              <a:gd name="connsiteY0" fmla="*/ 0 h 4047012"/>
              <a:gd name="connsiteX1" fmla="*/ 6600142 w 6833030"/>
              <a:gd name="connsiteY1" fmla="*/ 0 h 4047012"/>
              <a:gd name="connsiteX2" fmla="*/ 6833030 w 6833030"/>
              <a:gd name="connsiteY2" fmla="*/ 232888 h 4047012"/>
              <a:gd name="connsiteX3" fmla="*/ 6833030 w 6833030"/>
              <a:gd name="connsiteY3" fmla="*/ 3818040 h 4047012"/>
              <a:gd name="connsiteX4" fmla="*/ 6647077 w 6833030"/>
              <a:gd name="connsiteY4" fmla="*/ 4046197 h 4047012"/>
              <a:gd name="connsiteX5" fmla="*/ 6638988 w 6833030"/>
              <a:gd name="connsiteY5" fmla="*/ 4047012 h 4047012"/>
              <a:gd name="connsiteX6" fmla="*/ 194042 w 6833030"/>
              <a:gd name="connsiteY6" fmla="*/ 4047012 h 4047012"/>
              <a:gd name="connsiteX7" fmla="*/ 185953 w 6833030"/>
              <a:gd name="connsiteY7" fmla="*/ 4046197 h 4047012"/>
              <a:gd name="connsiteX8" fmla="*/ 0 w 6833030"/>
              <a:gd name="connsiteY8" fmla="*/ 3818040 h 4047012"/>
              <a:gd name="connsiteX9" fmla="*/ 0 w 6833030"/>
              <a:gd name="connsiteY9" fmla="*/ 232888 h 4047012"/>
              <a:gd name="connsiteX10" fmla="*/ 232888 w 6833030"/>
              <a:gd name="connsiteY10" fmla="*/ 0 h 4047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33030" h="4047012">
                <a:moveTo>
                  <a:pt x="232888" y="0"/>
                </a:moveTo>
                <a:lnTo>
                  <a:pt x="6600142" y="0"/>
                </a:lnTo>
                <a:cubicBezTo>
                  <a:pt x="6728762" y="0"/>
                  <a:pt x="6833030" y="104268"/>
                  <a:pt x="6833030" y="232888"/>
                </a:cubicBezTo>
                <a:lnTo>
                  <a:pt x="6833030" y="3818040"/>
                </a:lnTo>
                <a:cubicBezTo>
                  <a:pt x="6833030" y="3930583"/>
                  <a:pt x="6753200" y="4024481"/>
                  <a:pt x="6647077" y="4046197"/>
                </a:cubicBezTo>
                <a:lnTo>
                  <a:pt x="6638988" y="4047012"/>
                </a:lnTo>
                <a:lnTo>
                  <a:pt x="194042" y="4047012"/>
                </a:lnTo>
                <a:lnTo>
                  <a:pt x="185953" y="4046197"/>
                </a:lnTo>
                <a:cubicBezTo>
                  <a:pt x="79830" y="4024481"/>
                  <a:pt x="0" y="3930583"/>
                  <a:pt x="0" y="3818040"/>
                </a:cubicBezTo>
                <a:lnTo>
                  <a:pt x="0" y="232888"/>
                </a:lnTo>
                <a:cubicBezTo>
                  <a:pt x="0" y="104268"/>
                  <a:pt x="104268" y="0"/>
                  <a:pt x="232888" y="0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13932-ED1F-7CC8-C597-920F11F11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 29" descr=" ">
            <a:extLst>
              <a:ext uri="{FF2B5EF4-FFF2-40B4-BE49-F238E27FC236}">
                <a16:creationId xmlns:a16="http://schemas.microsoft.com/office/drawing/2014/main" id="{B1696089-04F1-62AA-6F48-27F931227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806" y="317500"/>
            <a:ext cx="15494976" cy="8509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5FFB42F5-6D4C-ECE7-20DE-500380403F19}"/>
              </a:ext>
            </a:extLst>
          </p:cNvPr>
          <p:cNvSpPr/>
          <p:nvPr/>
        </p:nvSpPr>
        <p:spPr>
          <a:xfrm>
            <a:off x="688776" y="663331"/>
            <a:ext cx="12158543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ru-RU" sz="5500" dirty="0">
                <a:solidFill>
                  <a:srgbClr val="16161A">
                    <a:alpha val="100000"/>
                  </a:srgbClr>
                </a:solidFill>
                <a:ea typeface="Cygre Bold" pitchFamily="34" charset="-122"/>
                <a:cs typeface="Cygre Bold" pitchFamily="34" charset="-120"/>
              </a:rPr>
              <a:t>Функциональные возможности</a:t>
            </a:r>
          </a:p>
        </p:txBody>
      </p: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5504355C-CF50-F0E4-505A-E2E32D12B5C2}"/>
              </a:ext>
            </a:extLst>
          </p:cNvPr>
          <p:cNvGrpSpPr/>
          <p:nvPr/>
        </p:nvGrpSpPr>
        <p:grpSpPr>
          <a:xfrm>
            <a:off x="839552" y="2083617"/>
            <a:ext cx="3240000" cy="1606329"/>
            <a:chOff x="725795" y="2083617"/>
            <a:chExt cx="3240000" cy="1606329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30A5874-D055-5F50-C867-3416AF1D56A2}"/>
                </a:ext>
              </a:extLst>
            </p:cNvPr>
            <p:cNvSpPr txBox="1"/>
            <p:nvPr/>
          </p:nvSpPr>
          <p:spPr>
            <a:xfrm>
              <a:off x="861055" y="2083617"/>
              <a:ext cx="2783745" cy="28899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spcBef>
                  <a:spcPts val="150"/>
                </a:spcBef>
              </a:pPr>
              <a:r>
                <a:rPr lang="ru-RU" sz="1400" b="1" cap="all" dirty="0">
                  <a:ea typeface="+mj-ea"/>
                  <a:cs typeface="+mj-cs"/>
                </a:rPr>
                <a:t>Логистика</a:t>
              </a:r>
            </a:p>
            <a:p>
              <a:pPr>
                <a:spcBef>
                  <a:spcPts val="150"/>
                </a:spcBef>
              </a:pPr>
              <a:endParaRPr lang="ru-RU" sz="1400" b="1" cap="all" dirty="0">
                <a:ea typeface="+mj-ea"/>
                <a:cs typeface="+mj-cs"/>
              </a:endParaRPr>
            </a:p>
            <a:p>
              <a:pPr>
                <a:spcBef>
                  <a:spcPts val="150"/>
                </a:spcBef>
              </a:pPr>
              <a:endParaRPr lang="ru-RU" sz="1400" b="1" cap="all" dirty="0"/>
            </a:p>
          </p:txBody>
        </p:sp>
        <p:sp>
          <p:nvSpPr>
            <p:cNvPr id="58" name="Прямоугольник 57">
              <a:extLst>
                <a:ext uri="{FF2B5EF4-FFF2-40B4-BE49-F238E27FC236}">
                  <a16:creationId xmlns:a16="http://schemas.microsoft.com/office/drawing/2014/main" id="{F3FC9689-BA27-85BE-5578-0FCA24FD1796}"/>
                </a:ext>
              </a:extLst>
            </p:cNvPr>
            <p:cNvSpPr/>
            <p:nvPr/>
          </p:nvSpPr>
          <p:spPr>
            <a:xfrm>
              <a:off x="725795" y="2284433"/>
              <a:ext cx="3240000" cy="14055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Онлайн мониторинг остатков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Контроль передвижения транспорта 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Динамические данные для планирования отгрузки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Единая база данных перемещения</a:t>
              </a:r>
              <a:r>
                <a:rPr lang="en-US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 </a:t>
              </a: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нефтепродукта</a:t>
              </a:r>
            </a:p>
          </p:txBody>
        </p:sp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98AA7217-1348-4AC8-4014-5673A0B6AE1D}"/>
              </a:ext>
            </a:extLst>
          </p:cNvPr>
          <p:cNvGrpSpPr/>
          <p:nvPr/>
        </p:nvGrpSpPr>
        <p:grpSpPr>
          <a:xfrm>
            <a:off x="4495082" y="6974219"/>
            <a:ext cx="3240000" cy="984885"/>
            <a:chOff x="3656545" y="6731227"/>
            <a:chExt cx="3240000" cy="984885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6EF0DB8-D17C-D5AE-7B8C-C6E0016489AC}"/>
                </a:ext>
              </a:extLst>
            </p:cNvPr>
            <p:cNvSpPr txBox="1"/>
            <p:nvPr/>
          </p:nvSpPr>
          <p:spPr>
            <a:xfrm>
              <a:off x="3727447" y="6731227"/>
              <a:ext cx="2783745" cy="28899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spcBef>
                  <a:spcPts val="150"/>
                </a:spcBef>
              </a:pPr>
              <a:r>
                <a:rPr lang="ru-RU" sz="1400" b="1" cap="all" dirty="0">
                  <a:ea typeface="+mj-ea"/>
                  <a:cs typeface="+mj-cs"/>
                </a:rPr>
                <a:t>МОДУЛЬ ПРИЕМА НЕФТЕПРОДУКТОВ</a:t>
              </a:r>
            </a:p>
            <a:p>
              <a:pPr>
                <a:spcBef>
                  <a:spcPts val="150"/>
                </a:spcBef>
              </a:pPr>
              <a:endParaRPr lang="ru-RU" sz="1400" b="1" cap="all" dirty="0">
                <a:ea typeface="+mj-ea"/>
                <a:cs typeface="+mj-cs"/>
              </a:endParaRPr>
            </a:p>
            <a:p>
              <a:pPr>
                <a:spcBef>
                  <a:spcPts val="150"/>
                </a:spcBef>
              </a:pPr>
              <a:endParaRPr lang="ru-RU" sz="1400" b="1" cap="all" dirty="0"/>
            </a:p>
          </p:txBody>
        </p:sp>
        <p:sp>
          <p:nvSpPr>
            <p:cNvPr id="59" name="Прямоугольник 58">
              <a:extLst>
                <a:ext uri="{FF2B5EF4-FFF2-40B4-BE49-F238E27FC236}">
                  <a16:creationId xmlns:a16="http://schemas.microsoft.com/office/drawing/2014/main" id="{958F2F4C-3578-FF01-2886-FE43F9F418EB}"/>
                </a:ext>
              </a:extLst>
            </p:cNvPr>
            <p:cNvSpPr/>
            <p:nvPr/>
          </p:nvSpPr>
          <p:spPr>
            <a:xfrm>
              <a:off x="3656545" y="6967189"/>
              <a:ext cx="3240000" cy="7489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Электронный журнал поставок</a:t>
              </a:r>
              <a:r>
                <a:rPr lang="en-US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/</a:t>
              </a: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отгрузки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Автоматический расчет потерь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Электронный документооборот</a:t>
              </a:r>
            </a:p>
          </p:txBody>
        </p:sp>
      </p:grp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3E3D7DE4-FB5A-CA2A-EF46-6DBEAB76EFB4}"/>
              </a:ext>
            </a:extLst>
          </p:cNvPr>
          <p:cNvGrpSpPr/>
          <p:nvPr/>
        </p:nvGrpSpPr>
        <p:grpSpPr>
          <a:xfrm>
            <a:off x="4495082" y="2083617"/>
            <a:ext cx="3240000" cy="1790995"/>
            <a:chOff x="3664052" y="2083617"/>
            <a:chExt cx="3240000" cy="179099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D0A2C47-51D3-DC6C-9BDA-2126693D3A67}"/>
                </a:ext>
              </a:extLst>
            </p:cNvPr>
            <p:cNvSpPr txBox="1"/>
            <p:nvPr/>
          </p:nvSpPr>
          <p:spPr>
            <a:xfrm>
              <a:off x="3768201" y="2083617"/>
              <a:ext cx="2783745" cy="28899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spcBef>
                  <a:spcPts val="150"/>
                </a:spcBef>
              </a:pPr>
              <a:r>
                <a:rPr lang="ru-RU" sz="1400" b="1" cap="all" dirty="0">
                  <a:ea typeface="+mj-ea"/>
                  <a:cs typeface="+mj-cs"/>
                </a:rPr>
                <a:t>Метрология и учет</a:t>
              </a:r>
            </a:p>
            <a:p>
              <a:pPr>
                <a:spcBef>
                  <a:spcPts val="150"/>
                </a:spcBef>
              </a:pPr>
              <a:endParaRPr lang="ru-RU" sz="1400" b="1" cap="all" dirty="0">
                <a:ea typeface="+mj-ea"/>
                <a:cs typeface="+mj-cs"/>
              </a:endParaRPr>
            </a:p>
            <a:p>
              <a:pPr>
                <a:spcBef>
                  <a:spcPts val="150"/>
                </a:spcBef>
              </a:pPr>
              <a:endParaRPr lang="ru-RU" sz="1400" b="1" cap="all" dirty="0"/>
            </a:p>
          </p:txBody>
        </p:sp>
        <p:sp>
          <p:nvSpPr>
            <p:cNvPr id="60" name="Прямоугольник 59">
              <a:extLst>
                <a:ext uri="{FF2B5EF4-FFF2-40B4-BE49-F238E27FC236}">
                  <a16:creationId xmlns:a16="http://schemas.microsoft.com/office/drawing/2014/main" id="{61FD5BC3-C6CD-F6D3-143B-B30D6A77A454}"/>
                </a:ext>
              </a:extLst>
            </p:cNvPr>
            <p:cNvSpPr/>
            <p:nvPr/>
          </p:nvSpPr>
          <p:spPr>
            <a:xfrm>
              <a:off x="3664052" y="2284433"/>
              <a:ext cx="3240000" cy="15901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Контроль проведения КМХ</a:t>
              </a:r>
              <a:br>
                <a:rPr lang="en-US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</a:b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и поверки СИ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Контроль сохранностью качества</a:t>
              </a:r>
              <a:br>
                <a:rPr lang="en-US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</a:b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и количества 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Онлайн обмен с учетными системами 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Расчет материального баланса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Мониторинг параметров нефтепродукта</a:t>
              </a:r>
            </a:p>
          </p:txBody>
        </p:sp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B8B98C28-ACDC-9743-3A47-C82E3ECBE1DF}"/>
              </a:ext>
            </a:extLst>
          </p:cNvPr>
          <p:cNvGrpSpPr/>
          <p:nvPr/>
        </p:nvGrpSpPr>
        <p:grpSpPr>
          <a:xfrm>
            <a:off x="8251796" y="2083617"/>
            <a:ext cx="3240000" cy="1421663"/>
            <a:chOff x="6551947" y="2083617"/>
            <a:chExt cx="3240000" cy="1421663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B02BBAC-AABA-EA8A-5212-9A0E88075309}"/>
                </a:ext>
              </a:extLst>
            </p:cNvPr>
            <p:cNvSpPr txBox="1"/>
            <p:nvPr/>
          </p:nvSpPr>
          <p:spPr>
            <a:xfrm>
              <a:off x="6629987" y="2083617"/>
              <a:ext cx="2783745" cy="28899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spcBef>
                  <a:spcPts val="150"/>
                </a:spcBef>
              </a:pPr>
              <a:r>
                <a:rPr lang="ru-RU" sz="1400" b="1" cap="all" dirty="0">
                  <a:ea typeface="+mj-ea"/>
                  <a:cs typeface="+mj-cs"/>
                </a:rPr>
                <a:t>Надежность и энергоэффективность</a:t>
              </a:r>
            </a:p>
            <a:p>
              <a:pPr>
                <a:spcBef>
                  <a:spcPts val="150"/>
                </a:spcBef>
              </a:pPr>
              <a:endParaRPr lang="ru-RU" sz="1400" b="1" cap="all" dirty="0">
                <a:ea typeface="+mj-ea"/>
                <a:cs typeface="+mj-cs"/>
              </a:endParaRPr>
            </a:p>
            <a:p>
              <a:pPr>
                <a:spcBef>
                  <a:spcPts val="150"/>
                </a:spcBef>
              </a:pPr>
              <a:endParaRPr lang="ru-RU" sz="1400" b="1" cap="all" dirty="0"/>
            </a:p>
          </p:txBody>
        </p:sp>
        <p:sp>
          <p:nvSpPr>
            <p:cNvPr id="61" name="Прямоугольник 60">
              <a:extLst>
                <a:ext uri="{FF2B5EF4-FFF2-40B4-BE49-F238E27FC236}">
                  <a16:creationId xmlns:a16="http://schemas.microsoft.com/office/drawing/2014/main" id="{0337F237-3962-69E4-C8E9-A98EDF793FC0}"/>
                </a:ext>
              </a:extLst>
            </p:cNvPr>
            <p:cNvSpPr/>
            <p:nvPr/>
          </p:nvSpPr>
          <p:spPr>
            <a:xfrm>
              <a:off x="6551947" y="2284433"/>
              <a:ext cx="3240000" cy="12208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Контроль выполнения ТОиППР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Контроль утечек 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Счетчики потребления (вода\</a:t>
              </a:r>
              <a:r>
                <a:rPr lang="ru-RU" sz="1200" dirty="0" err="1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эл.энергия</a:t>
              </a: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)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Контроль наработок и планирование 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замены основных фондов</a:t>
              </a:r>
            </a:p>
          </p:txBody>
        </p:sp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517B836A-F6B0-DF81-5B66-D5CC821B7EF2}"/>
              </a:ext>
            </a:extLst>
          </p:cNvPr>
          <p:cNvGrpSpPr/>
          <p:nvPr/>
        </p:nvGrpSpPr>
        <p:grpSpPr>
          <a:xfrm>
            <a:off x="11939150" y="2083617"/>
            <a:ext cx="3240000" cy="1083109"/>
            <a:chOff x="9465574" y="2083617"/>
            <a:chExt cx="3240000" cy="1083109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F0C4F4E-4611-42E7-25E0-72D19981F8DE}"/>
                </a:ext>
              </a:extLst>
            </p:cNvPr>
            <p:cNvSpPr txBox="1"/>
            <p:nvPr/>
          </p:nvSpPr>
          <p:spPr>
            <a:xfrm>
              <a:off x="9525596" y="2083617"/>
              <a:ext cx="2783745" cy="28899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spcBef>
                  <a:spcPts val="150"/>
                </a:spcBef>
              </a:pPr>
              <a:r>
                <a:rPr lang="ru-RU" sz="1400" b="1" cap="all" dirty="0">
                  <a:ea typeface="+mj-ea"/>
                  <a:cs typeface="+mj-cs"/>
                </a:rPr>
                <a:t>ПРОМЫШЛЕННАЯ БЕЗОПАСНОСТЬ</a:t>
              </a:r>
            </a:p>
            <a:p>
              <a:pPr>
                <a:spcBef>
                  <a:spcPts val="150"/>
                </a:spcBef>
              </a:pPr>
              <a:endParaRPr lang="ru-RU" sz="1400" b="1" cap="all" dirty="0">
                <a:ea typeface="+mj-ea"/>
                <a:cs typeface="+mj-cs"/>
              </a:endParaRPr>
            </a:p>
            <a:p>
              <a:pPr>
                <a:spcBef>
                  <a:spcPts val="150"/>
                </a:spcBef>
              </a:pPr>
              <a:endParaRPr lang="ru-RU" sz="1400" b="1" cap="all" dirty="0"/>
            </a:p>
          </p:txBody>
        </p:sp>
        <p:sp>
          <p:nvSpPr>
            <p:cNvPr id="62" name="Прямоугольник 61">
              <a:extLst>
                <a:ext uri="{FF2B5EF4-FFF2-40B4-BE49-F238E27FC236}">
                  <a16:creationId xmlns:a16="http://schemas.microsoft.com/office/drawing/2014/main" id="{13EF3FE4-D349-A457-D5DF-7DD8B2F27B93}"/>
                </a:ext>
              </a:extLst>
            </p:cNvPr>
            <p:cNvSpPr/>
            <p:nvPr/>
          </p:nvSpPr>
          <p:spPr>
            <a:xfrm>
              <a:off x="9465574" y="2284433"/>
              <a:ext cx="3240000" cy="8822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Контроль пребывания сотрудников</a:t>
              </a:r>
              <a:br>
                <a:rPr lang="en-US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</a:b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в зонах повышенной опасности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Состояние датчиков загазованности</a:t>
              </a:r>
              <a:br>
                <a:rPr lang="en-US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</a:b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и пожарной сигнализации</a:t>
              </a:r>
            </a:p>
          </p:txBody>
        </p:sp>
      </p:grpSp>
      <p:grpSp>
        <p:nvGrpSpPr>
          <p:cNvPr id="77" name="Группа 76">
            <a:extLst>
              <a:ext uri="{FF2B5EF4-FFF2-40B4-BE49-F238E27FC236}">
                <a16:creationId xmlns:a16="http://schemas.microsoft.com/office/drawing/2014/main" id="{513D663C-A5D1-37B7-B073-B4444E16D69B}"/>
              </a:ext>
            </a:extLst>
          </p:cNvPr>
          <p:cNvGrpSpPr/>
          <p:nvPr/>
        </p:nvGrpSpPr>
        <p:grpSpPr>
          <a:xfrm>
            <a:off x="11939149" y="4642864"/>
            <a:ext cx="3370469" cy="1141872"/>
            <a:chOff x="9447867" y="4383776"/>
            <a:chExt cx="3370469" cy="114187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B4838FE-EE40-9B64-C6B4-BA2516211E69}"/>
                </a:ext>
              </a:extLst>
            </p:cNvPr>
            <p:cNvSpPr txBox="1"/>
            <p:nvPr/>
          </p:nvSpPr>
          <p:spPr>
            <a:xfrm>
              <a:off x="9512862" y="4383776"/>
              <a:ext cx="2783745" cy="28899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spcBef>
                  <a:spcPts val="150"/>
                </a:spcBef>
              </a:pPr>
              <a:r>
                <a:rPr lang="ru-RU" sz="1400" b="1" cap="all" dirty="0">
                  <a:ea typeface="+mj-ea"/>
                  <a:cs typeface="+mj-cs"/>
                </a:rPr>
                <a:t>лаборатория</a:t>
              </a:r>
            </a:p>
            <a:p>
              <a:pPr>
                <a:spcBef>
                  <a:spcPts val="150"/>
                </a:spcBef>
              </a:pPr>
              <a:endParaRPr lang="ru-RU" sz="1400" b="1" cap="all" dirty="0">
                <a:ea typeface="+mj-ea"/>
                <a:cs typeface="+mj-cs"/>
              </a:endParaRPr>
            </a:p>
            <a:p>
              <a:pPr>
                <a:spcBef>
                  <a:spcPts val="150"/>
                </a:spcBef>
              </a:pPr>
              <a:endParaRPr lang="ru-RU" sz="1400" b="1" cap="all" dirty="0"/>
            </a:p>
          </p:txBody>
        </p:sp>
        <p:sp>
          <p:nvSpPr>
            <p:cNvPr id="63" name="Прямоугольник 62">
              <a:extLst>
                <a:ext uri="{FF2B5EF4-FFF2-40B4-BE49-F238E27FC236}">
                  <a16:creationId xmlns:a16="http://schemas.microsoft.com/office/drawing/2014/main" id="{17FE9109-D4C4-F73C-53AB-1B13E5D52BDB}"/>
                </a:ext>
              </a:extLst>
            </p:cNvPr>
            <p:cNvSpPr/>
            <p:nvPr/>
          </p:nvSpPr>
          <p:spPr>
            <a:xfrm>
              <a:off x="9447867" y="4592059"/>
              <a:ext cx="337046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Электронный журнал регистрации проб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Контроль работы оборудования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Результаты испытаний проб</a:t>
              </a:r>
              <a:br>
                <a:rPr lang="en-US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</a:b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и инциденты по качеству нефтепродуктов</a:t>
              </a:r>
            </a:p>
          </p:txBody>
        </p:sp>
      </p:grp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83EABAB1-49FF-4BAB-369F-ADD58BE05589}"/>
              </a:ext>
            </a:extLst>
          </p:cNvPr>
          <p:cNvGrpSpPr/>
          <p:nvPr/>
        </p:nvGrpSpPr>
        <p:grpSpPr>
          <a:xfrm>
            <a:off x="839552" y="4642864"/>
            <a:ext cx="3240000" cy="1090576"/>
            <a:chOff x="727017" y="4383776"/>
            <a:chExt cx="3240000" cy="1090576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ACBB0BB-8971-B7FA-847C-F536DD802292}"/>
                </a:ext>
              </a:extLst>
            </p:cNvPr>
            <p:cNvSpPr txBox="1"/>
            <p:nvPr/>
          </p:nvSpPr>
          <p:spPr>
            <a:xfrm>
              <a:off x="826672" y="4383776"/>
              <a:ext cx="2783745" cy="28899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spcBef>
                  <a:spcPts val="150"/>
                </a:spcBef>
              </a:pPr>
              <a:r>
                <a:rPr lang="ru-RU" sz="1400" b="1" cap="all" dirty="0">
                  <a:ea typeface="+mj-ea"/>
                  <a:cs typeface="+mj-cs"/>
                </a:rPr>
                <a:t>ИТ-оборудование</a:t>
              </a:r>
            </a:p>
            <a:p>
              <a:pPr>
                <a:spcBef>
                  <a:spcPts val="150"/>
                </a:spcBef>
              </a:pPr>
              <a:endParaRPr lang="ru-RU" sz="1400" b="1" cap="all" dirty="0">
                <a:ea typeface="+mj-ea"/>
                <a:cs typeface="+mj-cs"/>
              </a:endParaRPr>
            </a:p>
            <a:p>
              <a:pPr>
                <a:spcBef>
                  <a:spcPts val="150"/>
                </a:spcBef>
              </a:pPr>
              <a:endParaRPr lang="ru-RU" sz="1400" b="1" cap="all" dirty="0"/>
            </a:p>
          </p:txBody>
        </p:sp>
        <p:sp>
          <p:nvSpPr>
            <p:cNvPr id="64" name="Прямоугольник 63">
              <a:extLst>
                <a:ext uri="{FF2B5EF4-FFF2-40B4-BE49-F238E27FC236}">
                  <a16:creationId xmlns:a16="http://schemas.microsoft.com/office/drawing/2014/main" id="{C8640657-21B7-FA37-4E96-2E3B232E8414}"/>
                </a:ext>
              </a:extLst>
            </p:cNvPr>
            <p:cNvSpPr/>
            <p:nvPr/>
          </p:nvSpPr>
          <p:spPr>
            <a:xfrm>
              <a:off x="727017" y="4592059"/>
              <a:ext cx="3240000" cy="8822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Состояние сетевого оборудования</a:t>
              </a:r>
              <a:br>
                <a:rPr lang="en-US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</a:b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и периферийного оборудования</a:t>
              </a:r>
              <a:br>
                <a:rPr lang="en-US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</a:b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(</a:t>
              </a:r>
              <a:r>
                <a:rPr lang="en-US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POS</a:t>
              </a: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, ККТ, терминалы)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</a:pPr>
              <a:endParaRPr lang="ru-RU" sz="1200" b="1" dirty="0">
                <a:solidFill>
                  <a:schemeClr val="accent6">
                    <a:lumMod val="50000"/>
                  </a:schemeClr>
                </a:solidFill>
                <a:ea typeface="Open Sans Regular" pitchFamily="2" charset="0"/>
                <a:cs typeface="Open Sans Regular" pitchFamily="2" charset="0"/>
              </a:endParaRPr>
            </a:p>
          </p:txBody>
        </p:sp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01DB9B5D-7F55-7191-7F66-8D1E0F08D12E}"/>
              </a:ext>
            </a:extLst>
          </p:cNvPr>
          <p:cNvGrpSpPr/>
          <p:nvPr/>
        </p:nvGrpSpPr>
        <p:grpSpPr>
          <a:xfrm>
            <a:off x="4495082" y="4642864"/>
            <a:ext cx="3341184" cy="1695870"/>
            <a:chOff x="3648892" y="4383776"/>
            <a:chExt cx="3341184" cy="169587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A6F93A6-E2A1-86BB-B18F-E6782E407AAC}"/>
                </a:ext>
              </a:extLst>
            </p:cNvPr>
            <p:cNvSpPr txBox="1"/>
            <p:nvPr/>
          </p:nvSpPr>
          <p:spPr>
            <a:xfrm>
              <a:off x="3746378" y="4383776"/>
              <a:ext cx="2783745" cy="28899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spcBef>
                  <a:spcPts val="150"/>
                </a:spcBef>
              </a:pPr>
              <a:r>
                <a:rPr lang="ru-RU" sz="1400" b="1" cap="all" dirty="0">
                  <a:ea typeface="+mj-ea"/>
                  <a:cs typeface="+mj-cs"/>
                </a:rPr>
                <a:t>Технологическое оборудование</a:t>
              </a:r>
            </a:p>
            <a:p>
              <a:pPr>
                <a:spcBef>
                  <a:spcPts val="150"/>
                </a:spcBef>
              </a:pPr>
              <a:endParaRPr lang="ru-RU" sz="1400" b="1" cap="all" dirty="0">
                <a:ea typeface="+mj-ea"/>
                <a:cs typeface="+mj-cs"/>
              </a:endParaRPr>
            </a:p>
            <a:p>
              <a:pPr>
                <a:spcBef>
                  <a:spcPts val="150"/>
                </a:spcBef>
              </a:pPr>
              <a:endParaRPr lang="ru-RU" sz="1400" b="1" cap="all" dirty="0"/>
            </a:p>
          </p:txBody>
        </p:sp>
        <p:sp>
          <p:nvSpPr>
            <p:cNvPr id="65" name="Прямоугольник 64">
              <a:extLst>
                <a:ext uri="{FF2B5EF4-FFF2-40B4-BE49-F238E27FC236}">
                  <a16:creationId xmlns:a16="http://schemas.microsoft.com/office/drawing/2014/main" id="{A46B4E85-EE52-F87E-D38A-9078E1761AEF}"/>
                </a:ext>
              </a:extLst>
            </p:cNvPr>
            <p:cNvSpPr/>
            <p:nvPr/>
          </p:nvSpPr>
          <p:spPr>
            <a:xfrm>
              <a:off x="3648892" y="4592059"/>
              <a:ext cx="3341184" cy="14875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Контроль состояния ТРК, насосов, систем кондиционирования</a:t>
              </a:r>
              <a:r>
                <a:rPr lang="en-US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 </a:t>
              </a: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и т.д.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Предиктивный анализ производственных процессов, сбоев</a:t>
              </a:r>
              <a:br>
                <a:rPr lang="en-US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</a:b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и простоев оборудования 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Автоматизация процесса сервисного обслуживания (заявки, закрытие работ)</a:t>
              </a:r>
            </a:p>
          </p:txBody>
        </p: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CDC16177-B383-3666-5FAF-DF92C9BE9FFE}"/>
              </a:ext>
            </a:extLst>
          </p:cNvPr>
          <p:cNvGrpSpPr/>
          <p:nvPr/>
        </p:nvGrpSpPr>
        <p:grpSpPr>
          <a:xfrm>
            <a:off x="8251796" y="6974219"/>
            <a:ext cx="3240000" cy="1118255"/>
            <a:chOff x="6533822" y="6731227"/>
            <a:chExt cx="3240000" cy="1118255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F0F7167-0942-C5AB-5698-AF29DDB7279A}"/>
                </a:ext>
              </a:extLst>
            </p:cNvPr>
            <p:cNvSpPr txBox="1"/>
            <p:nvPr/>
          </p:nvSpPr>
          <p:spPr>
            <a:xfrm>
              <a:off x="6629987" y="6731227"/>
              <a:ext cx="2783745" cy="28899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spcBef>
                  <a:spcPts val="150"/>
                </a:spcBef>
              </a:pPr>
              <a:r>
                <a:rPr lang="ru-RU" sz="1400" b="1" cap="all" dirty="0">
                  <a:ea typeface="+mj-ea"/>
                  <a:cs typeface="+mj-cs"/>
                </a:rPr>
                <a:t>ДИСПЕТЧЕРИЗАЦИЯ</a:t>
              </a:r>
            </a:p>
            <a:p>
              <a:pPr>
                <a:spcBef>
                  <a:spcPts val="150"/>
                </a:spcBef>
              </a:pPr>
              <a:endParaRPr lang="ru-RU" sz="1400" b="1" cap="all" dirty="0">
                <a:ea typeface="+mj-ea"/>
                <a:cs typeface="+mj-cs"/>
              </a:endParaRPr>
            </a:p>
            <a:p>
              <a:pPr>
                <a:spcBef>
                  <a:spcPts val="150"/>
                </a:spcBef>
              </a:pPr>
              <a:endParaRPr lang="ru-RU" sz="1400" b="1" cap="all" dirty="0"/>
            </a:p>
          </p:txBody>
        </p:sp>
        <p:sp>
          <p:nvSpPr>
            <p:cNvPr id="66" name="Прямоугольник 65">
              <a:extLst>
                <a:ext uri="{FF2B5EF4-FFF2-40B4-BE49-F238E27FC236}">
                  <a16:creationId xmlns:a16="http://schemas.microsoft.com/office/drawing/2014/main" id="{00B43937-1746-7580-2C45-AF96EA7F7905}"/>
                </a:ext>
              </a:extLst>
            </p:cNvPr>
            <p:cNvSpPr/>
            <p:nvPr/>
          </p:nvSpPr>
          <p:spPr>
            <a:xfrm>
              <a:off x="6533822" y="6967189"/>
              <a:ext cx="3240000" cy="8822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Автоматическое с</a:t>
              </a:r>
              <a:r>
                <a:rPr lang="ru-RU" alt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оздание заявок и онлайн эскалации событий 24</a:t>
              </a:r>
              <a:r>
                <a:rPr lang="en-US" alt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/</a:t>
              </a:r>
              <a:r>
                <a:rPr lang="ru-RU" alt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7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alt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Обмен с системами реагирования сервисных организаций</a:t>
              </a:r>
            </a:p>
          </p:txBody>
        </p:sp>
      </p:grpSp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EF71A478-E9AE-23F0-4B7E-5DAAC9C91388}"/>
              </a:ext>
            </a:extLst>
          </p:cNvPr>
          <p:cNvGrpSpPr/>
          <p:nvPr/>
        </p:nvGrpSpPr>
        <p:grpSpPr>
          <a:xfrm>
            <a:off x="11939150" y="6974219"/>
            <a:ext cx="3240000" cy="1118255"/>
            <a:chOff x="9372624" y="6731227"/>
            <a:chExt cx="3240000" cy="111825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D8CAEFE-75B6-1944-9D12-A0F40769E1F5}"/>
                </a:ext>
              </a:extLst>
            </p:cNvPr>
            <p:cNvSpPr txBox="1"/>
            <p:nvPr/>
          </p:nvSpPr>
          <p:spPr>
            <a:xfrm>
              <a:off x="9531831" y="6731227"/>
              <a:ext cx="2783745" cy="28899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spcBef>
                  <a:spcPts val="150"/>
                </a:spcBef>
              </a:pPr>
              <a:r>
                <a:rPr lang="ru-RU" sz="1400" b="1" cap="all" dirty="0">
                  <a:ea typeface="+mj-ea"/>
                  <a:cs typeface="+mj-cs"/>
                </a:rPr>
                <a:t>ЦИФРОВОЙ ПАСПОРТ ОБЪЕКТА</a:t>
              </a:r>
            </a:p>
            <a:p>
              <a:pPr>
                <a:spcBef>
                  <a:spcPts val="150"/>
                </a:spcBef>
              </a:pPr>
              <a:endParaRPr lang="ru-RU" sz="1400" b="1" cap="all" dirty="0">
                <a:ea typeface="+mj-ea"/>
                <a:cs typeface="+mj-cs"/>
              </a:endParaRPr>
            </a:p>
            <a:p>
              <a:pPr>
                <a:spcBef>
                  <a:spcPts val="150"/>
                </a:spcBef>
              </a:pPr>
              <a:endParaRPr lang="ru-RU" sz="1400" b="1" cap="all" dirty="0"/>
            </a:p>
          </p:txBody>
        </p:sp>
        <p:sp>
          <p:nvSpPr>
            <p:cNvPr id="67" name="Прямоугольник 66">
              <a:extLst>
                <a:ext uri="{FF2B5EF4-FFF2-40B4-BE49-F238E27FC236}">
                  <a16:creationId xmlns:a16="http://schemas.microsoft.com/office/drawing/2014/main" id="{A0DE69FF-F46B-6EF3-2E89-C0B2FCE6E632}"/>
                </a:ext>
              </a:extLst>
            </p:cNvPr>
            <p:cNvSpPr/>
            <p:nvPr/>
          </p:nvSpPr>
          <p:spPr>
            <a:xfrm>
              <a:off x="9372624" y="6967189"/>
              <a:ext cx="3240000" cy="8822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alt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Автоматическое формирование паспорта объекта с отслеживанием характеристик оборудования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alt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Контроль за перемещением оборудования</a:t>
              </a:r>
            </a:p>
          </p:txBody>
        </p:sp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1ACEA77D-72ED-0B04-E518-36D5B816719A}"/>
              </a:ext>
            </a:extLst>
          </p:cNvPr>
          <p:cNvGrpSpPr/>
          <p:nvPr/>
        </p:nvGrpSpPr>
        <p:grpSpPr>
          <a:xfrm>
            <a:off x="8251796" y="4642864"/>
            <a:ext cx="3240000" cy="854614"/>
            <a:chOff x="6533821" y="4383776"/>
            <a:chExt cx="3240000" cy="85461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3CFB2F8-AF86-58AA-4787-D15289969A25}"/>
                </a:ext>
              </a:extLst>
            </p:cNvPr>
            <p:cNvSpPr txBox="1"/>
            <p:nvPr/>
          </p:nvSpPr>
          <p:spPr>
            <a:xfrm>
              <a:off x="6629987" y="4383776"/>
              <a:ext cx="2783745" cy="28899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spcBef>
                  <a:spcPts val="150"/>
                </a:spcBef>
              </a:pPr>
              <a:r>
                <a:rPr lang="ru-RU" sz="1400" b="1" cap="all" dirty="0">
                  <a:ea typeface="+mj-ea"/>
                  <a:cs typeface="+mj-cs"/>
                </a:rPr>
                <a:t>Торговое оборудование</a:t>
              </a:r>
            </a:p>
            <a:p>
              <a:pPr>
                <a:spcBef>
                  <a:spcPts val="150"/>
                </a:spcBef>
              </a:pPr>
              <a:endParaRPr lang="ru-RU" sz="1400" b="1" cap="all" dirty="0">
                <a:ea typeface="+mj-ea"/>
                <a:cs typeface="+mj-cs"/>
              </a:endParaRPr>
            </a:p>
            <a:p>
              <a:pPr>
                <a:spcBef>
                  <a:spcPts val="150"/>
                </a:spcBef>
              </a:pPr>
              <a:endParaRPr lang="ru-RU" sz="1400" b="1" cap="all" dirty="0"/>
            </a:p>
          </p:txBody>
        </p:sp>
        <p:sp>
          <p:nvSpPr>
            <p:cNvPr id="68" name="Прямоугольник 67">
              <a:extLst>
                <a:ext uri="{FF2B5EF4-FFF2-40B4-BE49-F238E27FC236}">
                  <a16:creationId xmlns:a16="http://schemas.microsoft.com/office/drawing/2014/main" id="{85FA698D-B333-D9E3-B262-6A325F0203A6}"/>
                </a:ext>
              </a:extLst>
            </p:cNvPr>
            <p:cNvSpPr/>
            <p:nvPr/>
          </p:nvSpPr>
          <p:spPr>
            <a:xfrm>
              <a:off x="6533821" y="4592059"/>
              <a:ext cx="324000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Контроль состояния и настроек кофемашин, холодильных установок, печей, торговых витрин</a:t>
              </a:r>
            </a:p>
          </p:txBody>
        </p:sp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11A9DDD4-9689-109D-3E96-7EEF1AC7D13F}"/>
              </a:ext>
            </a:extLst>
          </p:cNvPr>
          <p:cNvGrpSpPr/>
          <p:nvPr/>
        </p:nvGrpSpPr>
        <p:grpSpPr>
          <a:xfrm>
            <a:off x="839552" y="6974219"/>
            <a:ext cx="3240000" cy="1118255"/>
            <a:chOff x="727017" y="6731227"/>
            <a:chExt cx="3240000" cy="1118255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92AC31F-20A8-8E9C-3B22-3AC45FDE5D22}"/>
                </a:ext>
              </a:extLst>
            </p:cNvPr>
            <p:cNvSpPr txBox="1"/>
            <p:nvPr/>
          </p:nvSpPr>
          <p:spPr>
            <a:xfrm>
              <a:off x="818875" y="6731227"/>
              <a:ext cx="2783745" cy="28899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spcBef>
                  <a:spcPts val="150"/>
                </a:spcBef>
              </a:pPr>
              <a:r>
                <a:rPr lang="ru-RU" sz="1400" b="1" cap="all" dirty="0">
                  <a:ea typeface="+mj-ea"/>
                  <a:cs typeface="+mj-cs"/>
                </a:rPr>
                <a:t>АНАЛИТИКА И ОТЧЕТНОСТЬ</a:t>
              </a:r>
            </a:p>
            <a:p>
              <a:pPr>
                <a:spcBef>
                  <a:spcPts val="150"/>
                </a:spcBef>
              </a:pPr>
              <a:endParaRPr lang="ru-RU" sz="1400" b="1" cap="all" dirty="0">
                <a:ea typeface="+mj-ea"/>
                <a:cs typeface="+mj-cs"/>
              </a:endParaRPr>
            </a:p>
            <a:p>
              <a:pPr>
                <a:spcBef>
                  <a:spcPts val="150"/>
                </a:spcBef>
              </a:pPr>
              <a:endParaRPr lang="ru-RU" sz="1400" b="1" cap="all" dirty="0"/>
            </a:p>
          </p:txBody>
        </p:sp>
        <p:sp>
          <p:nvSpPr>
            <p:cNvPr id="69" name="Прямоугольник 68">
              <a:extLst>
                <a:ext uri="{FF2B5EF4-FFF2-40B4-BE49-F238E27FC236}">
                  <a16:creationId xmlns:a16="http://schemas.microsoft.com/office/drawing/2014/main" id="{9AFAB297-D770-780B-ED4F-79AC94B7098D}"/>
                </a:ext>
              </a:extLst>
            </p:cNvPr>
            <p:cNvSpPr/>
            <p:nvPr/>
          </p:nvSpPr>
          <p:spPr>
            <a:xfrm>
              <a:off x="727017" y="6967189"/>
              <a:ext cx="3240000" cy="8822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Дашборды и витрины данных</a:t>
              </a:r>
              <a:br>
                <a:rPr lang="en-US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</a:b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для бизнес подразделений и руководителей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§"/>
              </a:pPr>
              <a:r>
                <a:rPr lang="ru-RU" sz="1200" dirty="0">
                  <a:solidFill>
                    <a:prstClr val="black"/>
                  </a:solidFill>
                  <a:ea typeface="Open Sans Regular" pitchFamily="2" charset="0"/>
                  <a:cs typeface="Open Sans Regular" pitchFamily="2" charset="0"/>
                </a:rPr>
                <a:t>Отслеживание трендов бизнес показателей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272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1">
            <a:extLst>
              <a:ext uri="{FF2B5EF4-FFF2-40B4-BE49-F238E27FC236}">
                <a16:creationId xmlns:a16="http://schemas.microsoft.com/office/drawing/2014/main" id="{71E8A2C4-B085-496F-B41E-0AB4B7E44934}"/>
              </a:ext>
            </a:extLst>
          </p:cNvPr>
          <p:cNvSpPr/>
          <p:nvPr/>
        </p:nvSpPr>
        <p:spPr>
          <a:xfrm>
            <a:off x="762048" y="647700"/>
            <a:ext cx="970341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ru-RU" sz="3000" dirty="0">
                <a:solidFill>
                  <a:srgbClr val="16161A">
                    <a:alpha val="100000"/>
                  </a:srgbClr>
                </a:solidFill>
                <a:ea typeface="Cygre Bold" pitchFamily="34" charset="-122"/>
                <a:cs typeface="Cygre Bold" pitchFamily="34" charset="-120"/>
              </a:rPr>
              <a:t>Нефтебазовое хозяйство</a:t>
            </a:r>
            <a:endParaRPr lang="en-US" sz="3000" dirty="0"/>
          </a:p>
        </p:txBody>
      </p:sp>
      <p:sp>
        <p:nvSpPr>
          <p:cNvPr id="57" name="Text 2">
            <a:extLst>
              <a:ext uri="{FF2B5EF4-FFF2-40B4-BE49-F238E27FC236}">
                <a16:creationId xmlns:a16="http://schemas.microsoft.com/office/drawing/2014/main" id="{650DEAC6-CDB1-4ADD-9B36-E6F5E2F3405C}"/>
              </a:ext>
            </a:extLst>
          </p:cNvPr>
          <p:cNvSpPr/>
          <p:nvPr/>
        </p:nvSpPr>
        <p:spPr>
          <a:xfrm>
            <a:off x="762047" y="1562100"/>
            <a:ext cx="2764923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ru-RU" sz="2000" b="1" dirty="0">
                <a:solidFill>
                  <a:srgbClr val="16161A">
                    <a:alpha val="100000"/>
                  </a:srgbClr>
                </a:solidFill>
                <a:ea typeface="Cygre SemiBold SemiBold" pitchFamily="34" charset="-122"/>
                <a:cs typeface="Cygre SemiBold SemiBold" pitchFamily="34" charset="-120"/>
              </a:rPr>
              <a:t>Описание решения</a:t>
            </a:r>
            <a:endParaRPr lang="en-US" sz="2000" b="1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C2C4905-9547-437C-1F33-2925475BE8F4}"/>
              </a:ext>
            </a:extLst>
          </p:cNvPr>
          <p:cNvSpPr/>
          <p:nvPr/>
        </p:nvSpPr>
        <p:spPr>
          <a:xfrm>
            <a:off x="762046" y="6364962"/>
            <a:ext cx="2764923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ru-RU" sz="2000" b="1" dirty="0">
                <a:solidFill>
                  <a:srgbClr val="16161A">
                    <a:alpha val="100000"/>
                  </a:srgbClr>
                </a:solidFill>
                <a:ea typeface="Cygre SemiBold SemiBold" pitchFamily="34" charset="-122"/>
                <a:cs typeface="Cygre SemiBold SemiBold" pitchFamily="34" charset="-120"/>
              </a:rPr>
              <a:t>Бизнес-эффекты</a:t>
            </a:r>
            <a:endParaRPr 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F049E3-038F-8089-19DA-27A8C88AC0B7}"/>
              </a:ext>
            </a:extLst>
          </p:cNvPr>
          <p:cNvSpPr txBox="1"/>
          <p:nvPr/>
        </p:nvSpPr>
        <p:spPr>
          <a:xfrm>
            <a:off x="722856" y="2040965"/>
            <a:ext cx="7480239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5738" indent="-185738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3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Проведение оперативного планирования производственных работ на нефтебазе.</a:t>
            </a:r>
          </a:p>
          <a:p>
            <a:pPr marL="185738" indent="-185738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3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Оперативный мониторинг за ходом выполнения производственных процессов во взаимодействии с системой АСУ ТП.</a:t>
            </a:r>
          </a:p>
          <a:p>
            <a:pPr marL="185738" indent="-185738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3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Управление производственным процессом отпуска НП с ответственного хранения</a:t>
            </a:r>
            <a:br>
              <a:rPr lang="en-US" sz="13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</a:br>
            <a:r>
              <a:rPr lang="ru-RU" sz="13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в автоцистерны.</a:t>
            </a:r>
          </a:p>
          <a:p>
            <a:pPr marL="185738" indent="-185738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3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Управление производственным процессом приема НП из ЖДЦ, по трубопроводу или из автоцистерн.</a:t>
            </a:r>
          </a:p>
          <a:p>
            <a:pPr marL="185738" indent="-185738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3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Управление процессами хранения НП на НБ (учета хранимых продуктов и состояния резервуарного парка, учета смен, выполнения внутрибазовых перекачек).</a:t>
            </a:r>
          </a:p>
          <a:p>
            <a:pPr marL="185738" indent="-185738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3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Организация контроля качества НП в процессах их приемки, хранения и отпуска во взаимодействии со смежной системой проведения лабораторных испытаний (LIMS).</a:t>
            </a:r>
          </a:p>
          <a:p>
            <a:pPr marL="185738" indent="-185738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3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Сквозной учет принимаемых, хранимых и отпускаемых НП и присадок, включая их учет в смежной системе коммерческого учета (ЕАСКУ).</a:t>
            </a:r>
          </a:p>
          <a:p>
            <a:pPr marL="185738" indent="-185738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3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Проведение поверки (калибровки) и контроля метрологических характеристик</a:t>
            </a:r>
            <a:br>
              <a:rPr lang="en-US" sz="13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</a:br>
            <a:r>
              <a:rPr lang="ru-RU" sz="13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СИ во взаимодействии со смежной системой АСУ ТОиР.</a:t>
            </a:r>
          </a:p>
          <a:p>
            <a:pPr marL="185738" indent="-185738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3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Восстановление качества НП на нефтебазе.</a:t>
            </a:r>
          </a:p>
          <a:p>
            <a:pPr marL="185738" indent="-185738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3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Взаимодействие с прочими внешними системами (ЭТРАН).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FEECEAA5-20F9-2F95-559D-7AFAF33D4E6B}"/>
              </a:ext>
            </a:extLst>
          </p:cNvPr>
          <p:cNvGrpSpPr/>
          <p:nvPr/>
        </p:nvGrpSpPr>
        <p:grpSpPr>
          <a:xfrm>
            <a:off x="8496835" y="1500325"/>
            <a:ext cx="2171165" cy="1128849"/>
            <a:chOff x="710850" y="3385583"/>
            <a:chExt cx="2171165" cy="1128849"/>
          </a:xfrm>
        </p:grpSpPr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22C9C151-6F12-D788-CA6F-C64019BB020A}"/>
                </a:ext>
              </a:extLst>
            </p:cNvPr>
            <p:cNvSpPr/>
            <p:nvPr/>
          </p:nvSpPr>
          <p:spPr>
            <a:xfrm>
              <a:off x="710850" y="3385583"/>
              <a:ext cx="2171165" cy="1081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7240"/>
                </a:lnSpc>
                <a:buNone/>
              </a:pPr>
              <a:r>
                <a:rPr lang="ru-RU" sz="4400" dirty="0">
                  <a:solidFill>
                    <a:srgbClr val="1444A7"/>
                  </a:solidFill>
                  <a:ea typeface="Poppins SemiBold" pitchFamily="34" charset="-122"/>
                  <a:cs typeface="Poppins SemiBold" pitchFamily="34" charset="-120"/>
                </a:rPr>
                <a:t>20</a:t>
              </a:r>
            </a:p>
          </p:txBody>
        </p:sp>
        <p:sp>
          <p:nvSpPr>
            <p:cNvPr id="14" name="Text 4">
              <a:extLst>
                <a:ext uri="{FF2B5EF4-FFF2-40B4-BE49-F238E27FC236}">
                  <a16:creationId xmlns:a16="http://schemas.microsoft.com/office/drawing/2014/main" id="{7DDE6EB6-2416-F5A4-05D8-A76972C36ECB}"/>
                </a:ext>
              </a:extLst>
            </p:cNvPr>
            <p:cNvSpPr/>
            <p:nvPr/>
          </p:nvSpPr>
          <p:spPr>
            <a:xfrm>
              <a:off x="710850" y="4282334"/>
              <a:ext cx="2171165" cy="2320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ru-RU" sz="1400" dirty="0">
                  <a:solidFill>
                    <a:srgbClr val="1444A7"/>
                  </a:solidFill>
                  <a:ea typeface="Open Sans Medium" pitchFamily="34" charset="-122"/>
                  <a:cs typeface="Open Sans Medium" pitchFamily="34" charset="-120"/>
                </a:rPr>
                <a:t>НБ подключено</a:t>
              </a: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1ADF0C54-70BB-7C8D-3166-F1FA5212E4D8}"/>
              </a:ext>
            </a:extLst>
          </p:cNvPr>
          <p:cNvGrpSpPr/>
          <p:nvPr/>
        </p:nvGrpSpPr>
        <p:grpSpPr>
          <a:xfrm>
            <a:off x="10668000" y="1500325"/>
            <a:ext cx="2292549" cy="1424179"/>
            <a:chOff x="710850" y="3385583"/>
            <a:chExt cx="2292549" cy="1424179"/>
          </a:xfrm>
        </p:grpSpPr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03142EB6-37D6-7C12-6B13-2EC705796837}"/>
                </a:ext>
              </a:extLst>
            </p:cNvPr>
            <p:cNvSpPr/>
            <p:nvPr/>
          </p:nvSpPr>
          <p:spPr>
            <a:xfrm>
              <a:off x="710850" y="3385583"/>
              <a:ext cx="2171165" cy="1081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7240"/>
                </a:lnSpc>
                <a:buNone/>
              </a:pPr>
              <a:r>
                <a:rPr lang="en-US" sz="4400" dirty="0">
                  <a:solidFill>
                    <a:srgbClr val="1444A7"/>
                  </a:solidFill>
                  <a:ea typeface="Poppins SemiBold" pitchFamily="34" charset="-122"/>
                  <a:cs typeface="Poppins SemiBold" pitchFamily="34" charset="-120"/>
                </a:rPr>
                <a:t>&gt;</a:t>
              </a:r>
              <a:r>
                <a:rPr lang="ru-RU" sz="4400" dirty="0">
                  <a:solidFill>
                    <a:srgbClr val="1444A7"/>
                  </a:solidFill>
                  <a:ea typeface="Poppins SemiBold" pitchFamily="34" charset="-122"/>
                  <a:cs typeface="Poppins SemiBold" pitchFamily="34" charset="-120"/>
                </a:rPr>
                <a:t> 800</a:t>
              </a:r>
            </a:p>
          </p:txBody>
        </p:sp>
        <p:sp>
          <p:nvSpPr>
            <p:cNvPr id="17" name="Text 4">
              <a:extLst>
                <a:ext uri="{FF2B5EF4-FFF2-40B4-BE49-F238E27FC236}">
                  <a16:creationId xmlns:a16="http://schemas.microsoft.com/office/drawing/2014/main" id="{89670ED8-9B03-D1A8-9931-7CA05925C942}"/>
                </a:ext>
              </a:extLst>
            </p:cNvPr>
            <p:cNvSpPr/>
            <p:nvPr/>
          </p:nvSpPr>
          <p:spPr>
            <a:xfrm>
              <a:off x="710850" y="4282333"/>
              <a:ext cx="2292549" cy="527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ru-RU" sz="1400" dirty="0">
                  <a:solidFill>
                    <a:srgbClr val="1444A7"/>
                  </a:solidFill>
                  <a:ea typeface="Open Sans Medium" pitchFamily="34" charset="-122"/>
                </a:rPr>
                <a:t>параметров управления производством</a:t>
              </a: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1BBE6445-AD95-6B3E-E9AD-C0C508939FB1}"/>
              </a:ext>
            </a:extLst>
          </p:cNvPr>
          <p:cNvGrpSpPr/>
          <p:nvPr/>
        </p:nvGrpSpPr>
        <p:grpSpPr>
          <a:xfrm>
            <a:off x="13519977" y="1500325"/>
            <a:ext cx="2171165" cy="1424179"/>
            <a:chOff x="710850" y="3385583"/>
            <a:chExt cx="2171165" cy="1424179"/>
          </a:xfrm>
        </p:grpSpPr>
        <p:sp>
          <p:nvSpPr>
            <p:cNvPr id="19" name="Text 3">
              <a:extLst>
                <a:ext uri="{FF2B5EF4-FFF2-40B4-BE49-F238E27FC236}">
                  <a16:creationId xmlns:a16="http://schemas.microsoft.com/office/drawing/2014/main" id="{7FEA34F5-76E9-6D34-15AA-680D46BB47C1}"/>
                </a:ext>
              </a:extLst>
            </p:cNvPr>
            <p:cNvSpPr/>
            <p:nvPr/>
          </p:nvSpPr>
          <p:spPr>
            <a:xfrm>
              <a:off x="710850" y="3385583"/>
              <a:ext cx="2171165" cy="1081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7240"/>
                </a:lnSpc>
                <a:buNone/>
              </a:pPr>
              <a:r>
                <a:rPr lang="en-US" sz="4400" dirty="0">
                  <a:solidFill>
                    <a:srgbClr val="1444A7"/>
                  </a:solidFill>
                  <a:ea typeface="Poppins SemiBold" pitchFamily="34" charset="-122"/>
                  <a:cs typeface="Poppins SemiBold" pitchFamily="34" charset="-120"/>
                </a:rPr>
                <a:t>12</a:t>
              </a:r>
              <a:endParaRPr lang="ru-RU" sz="4400" dirty="0">
                <a:solidFill>
                  <a:srgbClr val="1444A7"/>
                </a:solidFill>
                <a:ea typeface="Poppins SemiBold" pitchFamily="34" charset="-122"/>
                <a:cs typeface="Poppins SemiBold" pitchFamily="34" charset="-120"/>
              </a:endParaRPr>
            </a:p>
          </p:txBody>
        </p:sp>
        <p:sp>
          <p:nvSpPr>
            <p:cNvPr id="20" name="Text 4">
              <a:extLst>
                <a:ext uri="{FF2B5EF4-FFF2-40B4-BE49-F238E27FC236}">
                  <a16:creationId xmlns:a16="http://schemas.microsoft.com/office/drawing/2014/main" id="{24EDB046-D91A-74BB-D7CF-F84F3C82497F}"/>
                </a:ext>
              </a:extLst>
            </p:cNvPr>
            <p:cNvSpPr/>
            <p:nvPr/>
          </p:nvSpPr>
          <p:spPr>
            <a:xfrm>
              <a:off x="710850" y="4282333"/>
              <a:ext cx="2171165" cy="527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ru-RU" sz="1400" dirty="0">
                  <a:solidFill>
                    <a:srgbClr val="1444A7"/>
                  </a:solidFill>
                  <a:ea typeface="Open Sans Medium" pitchFamily="34" charset="-122"/>
                </a:rPr>
                <a:t>интеграций со смежными системами </a:t>
              </a:r>
            </a:p>
          </p:txBody>
        </p:sp>
      </p:grp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2E39F26-FCFB-27C8-32B7-CF751243D085}"/>
              </a:ext>
            </a:extLst>
          </p:cNvPr>
          <p:cNvPicPr/>
          <p:nvPr/>
        </p:nvPicPr>
        <p:blipFill>
          <a:blip r:embed="rId3" cstate="print"/>
          <a:srcRect l="15334" t="1789" b="8035"/>
          <a:stretch>
            <a:fillRect/>
          </a:stretch>
        </p:blipFill>
        <p:spPr>
          <a:xfrm>
            <a:off x="8492530" y="4008968"/>
            <a:ext cx="6826982" cy="4050928"/>
          </a:xfrm>
          <a:custGeom>
            <a:avLst/>
            <a:gdLst>
              <a:gd name="connsiteX0" fmla="*/ 232888 w 6826982"/>
              <a:gd name="connsiteY0" fmla="*/ 0 h 4050928"/>
              <a:gd name="connsiteX1" fmla="*/ 6600142 w 6826982"/>
              <a:gd name="connsiteY1" fmla="*/ 0 h 4050928"/>
              <a:gd name="connsiteX2" fmla="*/ 6814728 w 6826982"/>
              <a:gd name="connsiteY2" fmla="*/ 142238 h 4050928"/>
              <a:gd name="connsiteX3" fmla="*/ 6826982 w 6826982"/>
              <a:gd name="connsiteY3" fmla="*/ 202932 h 4050928"/>
              <a:gd name="connsiteX4" fmla="*/ 6826982 w 6826982"/>
              <a:gd name="connsiteY4" fmla="*/ 3847997 h 4050928"/>
              <a:gd name="connsiteX5" fmla="*/ 6814728 w 6826982"/>
              <a:gd name="connsiteY5" fmla="*/ 3908691 h 4050928"/>
              <a:gd name="connsiteX6" fmla="*/ 6600142 w 6826982"/>
              <a:gd name="connsiteY6" fmla="*/ 4050928 h 4050928"/>
              <a:gd name="connsiteX7" fmla="*/ 232888 w 6826982"/>
              <a:gd name="connsiteY7" fmla="*/ 4050928 h 4050928"/>
              <a:gd name="connsiteX8" fmla="*/ 0 w 6826982"/>
              <a:gd name="connsiteY8" fmla="*/ 3818040 h 4050928"/>
              <a:gd name="connsiteX9" fmla="*/ 0 w 6826982"/>
              <a:gd name="connsiteY9" fmla="*/ 232888 h 4050928"/>
              <a:gd name="connsiteX10" fmla="*/ 232888 w 6826982"/>
              <a:gd name="connsiteY10" fmla="*/ 0 h 4050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26982" h="4050928">
                <a:moveTo>
                  <a:pt x="232888" y="0"/>
                </a:moveTo>
                <a:lnTo>
                  <a:pt x="6600142" y="0"/>
                </a:lnTo>
                <a:cubicBezTo>
                  <a:pt x="6696607" y="0"/>
                  <a:pt x="6779374" y="58651"/>
                  <a:pt x="6814728" y="142238"/>
                </a:cubicBezTo>
                <a:lnTo>
                  <a:pt x="6826982" y="202932"/>
                </a:lnTo>
                <a:lnTo>
                  <a:pt x="6826982" y="3847997"/>
                </a:lnTo>
                <a:lnTo>
                  <a:pt x="6814728" y="3908691"/>
                </a:lnTo>
                <a:cubicBezTo>
                  <a:pt x="6779374" y="3992277"/>
                  <a:pt x="6696607" y="4050928"/>
                  <a:pt x="6600142" y="4050928"/>
                </a:cubicBezTo>
                <a:lnTo>
                  <a:pt x="232888" y="4050928"/>
                </a:lnTo>
                <a:cubicBezTo>
                  <a:pt x="104268" y="4050928"/>
                  <a:pt x="0" y="3946660"/>
                  <a:pt x="0" y="3818040"/>
                </a:cubicBezTo>
                <a:lnTo>
                  <a:pt x="0" y="232888"/>
                </a:lnTo>
                <a:cubicBezTo>
                  <a:pt x="0" y="104268"/>
                  <a:pt x="104268" y="0"/>
                  <a:pt x="232888" y="0"/>
                </a:cubicBezTo>
                <a:close/>
              </a:path>
            </a:pathLst>
          </a:cu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C80954A-BAF5-A8C0-5316-CF81B89E6476}"/>
              </a:ext>
            </a:extLst>
          </p:cNvPr>
          <p:cNvSpPr txBox="1"/>
          <p:nvPr/>
        </p:nvSpPr>
        <p:spPr>
          <a:xfrm>
            <a:off x="762046" y="6849695"/>
            <a:ext cx="7480239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5738" indent="-185738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3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Бесперебойное обеспечение поклажедателей нефтепродуктами в необходимом количестве и надлежащего качества.</a:t>
            </a:r>
          </a:p>
          <a:p>
            <a:pPr marL="185738" indent="-185738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3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Контроль соответствия технологических операций и процессов на нефтебазе требованиям законодательства РФ, требованиям стандартов организации.</a:t>
            </a:r>
          </a:p>
          <a:p>
            <a:pPr marL="185738" indent="-185738">
              <a:spcBef>
                <a:spcPts val="600"/>
              </a:spcBef>
              <a:spcAft>
                <a:spcPts val="0"/>
              </a:spcAft>
              <a:buClr>
                <a:srgbClr val="1444A7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300" dirty="0">
                <a:solidFill>
                  <a:srgbClr val="16161A">
                    <a:alpha val="100000"/>
                  </a:srgbClr>
                </a:solidFill>
                <a:ea typeface="Open Sans Medium" pitchFamily="34" charset="-122"/>
                <a:cs typeface="Open Sans Medium" pitchFamily="34" charset="-120"/>
              </a:rPr>
              <a:t>Формирование полной и достоверной информации о наличии и состоянии товаров на НБ, необходимой внешним и внутренним пользователям для принятия управленческих решений, в том числе для оценки эффективности работы НБ.</a:t>
            </a:r>
          </a:p>
        </p:txBody>
      </p:sp>
    </p:spTree>
    <p:extLst>
      <p:ext uri="{BB962C8B-B14F-4D97-AF65-F5344CB8AC3E}">
        <p14:creationId xmlns:p14="http://schemas.microsoft.com/office/powerpoint/2010/main" val="4104897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13932-ED1F-7CC8-C597-920F11F11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 29" descr=" ">
            <a:extLst>
              <a:ext uri="{FF2B5EF4-FFF2-40B4-BE49-F238E27FC236}">
                <a16:creationId xmlns:a16="http://schemas.microsoft.com/office/drawing/2014/main" id="{B1696089-04F1-62AA-6F48-27F931227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806" y="317500"/>
            <a:ext cx="15494976" cy="8509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5FFB42F5-6D4C-ECE7-20DE-500380403F19}"/>
              </a:ext>
            </a:extLst>
          </p:cNvPr>
          <p:cNvSpPr/>
          <p:nvPr/>
        </p:nvSpPr>
        <p:spPr>
          <a:xfrm>
            <a:off x="688776" y="663331"/>
            <a:ext cx="12158543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ru-RU" sz="5500" dirty="0">
                <a:solidFill>
                  <a:srgbClr val="16161A">
                    <a:alpha val="100000"/>
                  </a:srgbClr>
                </a:solidFill>
                <a:ea typeface="Cygre Bold" pitchFamily="34" charset="-122"/>
                <a:cs typeface="Cygre Bold" pitchFamily="34" charset="-120"/>
              </a:rPr>
              <a:t>Функциональные возможности</a:t>
            </a: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4783DC9F-865C-7571-BDE8-0C39808B3A29}"/>
              </a:ext>
            </a:extLst>
          </p:cNvPr>
          <p:cNvGrpSpPr/>
          <p:nvPr/>
        </p:nvGrpSpPr>
        <p:grpSpPr>
          <a:xfrm>
            <a:off x="688776" y="1854114"/>
            <a:ext cx="7696152" cy="861927"/>
            <a:chOff x="688776" y="1932492"/>
            <a:chExt cx="7696152" cy="861927"/>
          </a:xfrm>
        </p:grpSpPr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9F238A24-AF75-2D61-2DC9-79AEBEF8AED3}"/>
                </a:ext>
              </a:extLst>
            </p:cNvPr>
            <p:cNvSpPr/>
            <p:nvPr/>
          </p:nvSpPr>
          <p:spPr>
            <a:xfrm>
              <a:off x="688776" y="2282142"/>
              <a:ext cx="7696152" cy="5122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ru-RU" sz="1600" dirty="0">
                  <a:solidFill>
                    <a:srgbClr val="16161A">
                      <a:alpha val="100000"/>
                    </a:srgbClr>
                  </a:solidFill>
                  <a:ea typeface="Open Sans Regular" pitchFamily="34" charset="-122"/>
                  <a:cs typeface="Open Sans Regular" pitchFamily="34" charset="-120"/>
                </a:rPr>
                <a:t>Управление заданиями</a:t>
              </a:r>
              <a:r>
                <a:rPr lang="en-US" sz="1600" dirty="0">
                  <a:solidFill>
                    <a:srgbClr val="16161A">
                      <a:alpha val="100000"/>
                    </a:srgbClr>
                  </a:solidFill>
                  <a:ea typeface="Open Sans Regular" pitchFamily="34" charset="-122"/>
                  <a:cs typeface="Open Sans Regular" pitchFamily="34" charset="-120"/>
                </a:rPr>
                <a:t> </a:t>
              </a:r>
              <a:r>
                <a:rPr lang="ru-RU" sz="1600" dirty="0">
                  <a:solidFill>
                    <a:srgbClr val="16161A">
                      <a:alpha val="100000"/>
                    </a:srgbClr>
                  </a:solidFill>
                  <a:ea typeface="Open Sans Regular" pitchFamily="34" charset="-122"/>
                  <a:cs typeface="Open Sans Regular" pitchFamily="34" charset="-120"/>
                </a:rPr>
                <a:t>разных типов, их жизненным циклом; журналирование операций; электронная очередь</a:t>
              </a: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E69D409B-5BF9-1243-6783-3C21B464698B}"/>
                </a:ext>
              </a:extLst>
            </p:cNvPr>
            <p:cNvSpPr/>
            <p:nvPr/>
          </p:nvSpPr>
          <p:spPr>
            <a:xfrm>
              <a:off x="688776" y="1932492"/>
              <a:ext cx="4956378" cy="4106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ru-RU" sz="1900" dirty="0">
                  <a:solidFill>
                    <a:srgbClr val="16161A">
                      <a:alpha val="100000"/>
                    </a:srgbClr>
                  </a:solidFill>
                  <a:ea typeface="Cygre Bold" pitchFamily="34" charset="-122"/>
                  <a:cs typeface="Cygre Bold" pitchFamily="34" charset="-120"/>
                </a:rPr>
                <a:t>ПОДСИСТЕМА УПРАВЛЕНИЯ РАБОТАМИ</a:t>
              </a:r>
            </a:p>
          </p:txBody>
        </p:sp>
      </p:grpSp>
      <p:pic>
        <p:nvPicPr>
          <p:cNvPr id="12" name="Image 4" descr=" ">
            <a:extLst>
              <a:ext uri="{FF2B5EF4-FFF2-40B4-BE49-F238E27FC236}">
                <a16:creationId xmlns:a16="http://schemas.microsoft.com/office/drawing/2014/main" id="{CAEA3973-2F65-388A-C686-8FA83D953E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776" y="2811216"/>
            <a:ext cx="7380000" cy="9646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6E5470C0-04EF-66BD-65A3-C79F5C0A85CB}"/>
              </a:ext>
            </a:extLst>
          </p:cNvPr>
          <p:cNvSpPr/>
          <p:nvPr/>
        </p:nvSpPr>
        <p:spPr>
          <a:xfrm>
            <a:off x="688776" y="3572620"/>
            <a:ext cx="7696152" cy="512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1600" dirty="0">
                <a:solidFill>
                  <a:srgbClr val="16161A">
                    <a:alpha val="100000"/>
                  </a:srgbClr>
                </a:solidFill>
                <a:ea typeface="Open Sans Regular" pitchFamily="34" charset="-122"/>
                <a:cs typeface="Open Sans Regular" pitchFamily="34" charset="-120"/>
              </a:rPr>
              <a:t>Контроль качества НП в процессе приема, хранения, отпуска; контроль смешений; восстановление качества; отбор проб</a:t>
            </a: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8E16FBF-D825-DC24-55D5-10F26BEFA9E4}"/>
              </a:ext>
            </a:extLst>
          </p:cNvPr>
          <p:cNvSpPr/>
          <p:nvPr/>
        </p:nvSpPr>
        <p:spPr>
          <a:xfrm>
            <a:off x="688776" y="3222970"/>
            <a:ext cx="4956378" cy="410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ru-RU" sz="1900" dirty="0">
                <a:solidFill>
                  <a:srgbClr val="16161A">
                    <a:alpha val="100000"/>
                  </a:srgbClr>
                </a:solidFill>
                <a:ea typeface="Cygre Bold" pitchFamily="34" charset="-122"/>
                <a:cs typeface="Cygre Bold" pitchFamily="34" charset="-120"/>
              </a:rPr>
              <a:t>ПОДСИСТЕМА КОНТРОЛЯ КАЧЕСТВА</a:t>
            </a:r>
          </a:p>
        </p:txBody>
      </p:sp>
      <p:pic>
        <p:nvPicPr>
          <p:cNvPr id="15" name="Image 4" descr=" ">
            <a:extLst>
              <a:ext uri="{FF2B5EF4-FFF2-40B4-BE49-F238E27FC236}">
                <a16:creationId xmlns:a16="http://schemas.microsoft.com/office/drawing/2014/main" id="{77E6C7F0-6AD8-9C70-5D0C-AA5098C9DF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776" y="4180072"/>
            <a:ext cx="7380000" cy="9646"/>
          </a:xfrm>
          <a:prstGeom prst="rect">
            <a:avLst/>
          </a:prstGeom>
        </p:spPr>
      </p:pic>
      <p:sp>
        <p:nvSpPr>
          <p:cNvPr id="16" name="Text 8">
            <a:extLst>
              <a:ext uri="{FF2B5EF4-FFF2-40B4-BE49-F238E27FC236}">
                <a16:creationId xmlns:a16="http://schemas.microsoft.com/office/drawing/2014/main" id="{991CD19D-CCAD-45D1-F386-AC1F24ACE4CC}"/>
              </a:ext>
            </a:extLst>
          </p:cNvPr>
          <p:cNvSpPr/>
          <p:nvPr/>
        </p:nvSpPr>
        <p:spPr>
          <a:xfrm>
            <a:off x="688776" y="4941476"/>
            <a:ext cx="7696152" cy="281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1600" dirty="0">
                <a:solidFill>
                  <a:srgbClr val="16161A">
                    <a:alpha val="100000"/>
                  </a:srgbClr>
                </a:solidFill>
                <a:ea typeface="Open Sans Regular" pitchFamily="34" charset="-122"/>
                <a:cs typeface="Open Sans Regular" pitchFamily="34" charset="-120"/>
              </a:rPr>
              <a:t>Управление сменой, технологической схемой и ТОиР </a:t>
            </a: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762A5D64-FE62-89AC-7AB0-6C54C1B2E707}"/>
              </a:ext>
            </a:extLst>
          </p:cNvPr>
          <p:cNvSpPr/>
          <p:nvPr/>
        </p:nvSpPr>
        <p:spPr>
          <a:xfrm>
            <a:off x="688776" y="4591826"/>
            <a:ext cx="4956378" cy="410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ru-RU" sz="1900" dirty="0">
                <a:solidFill>
                  <a:srgbClr val="16161A">
                    <a:alpha val="100000"/>
                  </a:srgbClr>
                </a:solidFill>
                <a:ea typeface="Cygre Bold" pitchFamily="34" charset="-122"/>
                <a:cs typeface="Cygre Bold" pitchFamily="34" charset="-120"/>
              </a:rPr>
              <a:t>ПОДСИСТЕМА УПРАВЛЕНИЯ НБ</a:t>
            </a:r>
          </a:p>
        </p:txBody>
      </p:sp>
      <p:pic>
        <p:nvPicPr>
          <p:cNvPr id="18" name="Image 4" descr=" ">
            <a:extLst>
              <a:ext uri="{FF2B5EF4-FFF2-40B4-BE49-F238E27FC236}">
                <a16:creationId xmlns:a16="http://schemas.microsoft.com/office/drawing/2014/main" id="{FCEFEFFD-5D4C-E48C-D668-9A426F8D0A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776" y="5229115"/>
            <a:ext cx="7380000" cy="9646"/>
          </a:xfrm>
          <a:prstGeom prst="rect">
            <a:avLst/>
          </a:prstGeom>
        </p:spPr>
      </p:pic>
      <p:sp>
        <p:nvSpPr>
          <p:cNvPr id="19" name="Text 8">
            <a:extLst>
              <a:ext uri="{FF2B5EF4-FFF2-40B4-BE49-F238E27FC236}">
                <a16:creationId xmlns:a16="http://schemas.microsoft.com/office/drawing/2014/main" id="{D8EF7209-CE06-839F-53EE-39B55806E22E}"/>
              </a:ext>
            </a:extLst>
          </p:cNvPr>
          <p:cNvSpPr/>
          <p:nvPr/>
        </p:nvSpPr>
        <p:spPr>
          <a:xfrm>
            <a:off x="688776" y="5990519"/>
            <a:ext cx="7696152" cy="512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1600" dirty="0">
                <a:solidFill>
                  <a:srgbClr val="16161A">
                    <a:alpha val="100000"/>
                  </a:srgbClr>
                </a:solidFill>
                <a:ea typeface="Open Sans Regular" pitchFamily="34" charset="-122"/>
                <a:cs typeface="Open Sans Regular" pitchFamily="34" charset="-120"/>
              </a:rPr>
              <a:t>Планирование работ по отпуску и приему НП, проведению КМХ; планирование инвентаризаций</a:t>
            </a: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F7C7C73D-2D16-BFB4-DC08-F450249DC697}"/>
              </a:ext>
            </a:extLst>
          </p:cNvPr>
          <p:cNvSpPr/>
          <p:nvPr/>
        </p:nvSpPr>
        <p:spPr>
          <a:xfrm>
            <a:off x="688776" y="5640869"/>
            <a:ext cx="4956378" cy="410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ru-RU" sz="1900" dirty="0">
                <a:solidFill>
                  <a:srgbClr val="16161A">
                    <a:alpha val="100000"/>
                  </a:srgbClr>
                </a:solidFill>
                <a:ea typeface="Cygre Bold" pitchFamily="34" charset="-122"/>
                <a:cs typeface="Cygre Bold" pitchFamily="34" charset="-120"/>
              </a:rPr>
              <a:t>ПОДСИСТЕМА ПЛАНИРОВАНИЯ</a:t>
            </a:r>
          </a:p>
        </p:txBody>
      </p:sp>
      <p:pic>
        <p:nvPicPr>
          <p:cNvPr id="21" name="Image 4" descr=" ">
            <a:extLst>
              <a:ext uri="{FF2B5EF4-FFF2-40B4-BE49-F238E27FC236}">
                <a16:creationId xmlns:a16="http://schemas.microsoft.com/office/drawing/2014/main" id="{76C96FD8-3CA6-C0AC-69C8-CF626343AE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776" y="6597971"/>
            <a:ext cx="7380000" cy="9646"/>
          </a:xfrm>
          <a:prstGeom prst="rect">
            <a:avLst/>
          </a:prstGeom>
        </p:spPr>
      </p:pic>
      <p:sp>
        <p:nvSpPr>
          <p:cNvPr id="22" name="Text 8">
            <a:extLst>
              <a:ext uri="{FF2B5EF4-FFF2-40B4-BE49-F238E27FC236}">
                <a16:creationId xmlns:a16="http://schemas.microsoft.com/office/drawing/2014/main" id="{01C1DCFB-1850-F6E0-8F12-4D9B2FD98C97}"/>
              </a:ext>
            </a:extLst>
          </p:cNvPr>
          <p:cNvSpPr/>
          <p:nvPr/>
        </p:nvSpPr>
        <p:spPr>
          <a:xfrm>
            <a:off x="688775" y="7359375"/>
            <a:ext cx="8096409" cy="1038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1600" dirty="0">
                <a:solidFill>
                  <a:srgbClr val="16161A">
                    <a:alpha val="100000"/>
                  </a:srgbClr>
                </a:solidFill>
                <a:ea typeface="Open Sans Regular" pitchFamily="34" charset="-122"/>
                <a:cs typeface="Open Sans Regular" pitchFamily="34" charset="-120"/>
              </a:rPr>
              <a:t>Работа с отчетами и печатными формами; список первичных документов</a:t>
            </a:r>
            <a:br>
              <a:rPr lang="ru-RU" sz="1600" dirty="0">
                <a:solidFill>
                  <a:srgbClr val="16161A">
                    <a:alpha val="100000"/>
                  </a:srgbClr>
                </a:solidFill>
                <a:ea typeface="Open Sans Regular" pitchFamily="34" charset="-122"/>
                <a:cs typeface="Open Sans Regular" pitchFamily="34" charset="-120"/>
              </a:rPr>
            </a:br>
            <a:r>
              <a:rPr lang="ru-RU" sz="1600" dirty="0">
                <a:solidFill>
                  <a:srgbClr val="16161A">
                    <a:alpha val="100000"/>
                  </a:srgbClr>
                </a:solidFill>
                <a:ea typeface="Open Sans Regular" pitchFamily="34" charset="-122"/>
                <a:cs typeface="Open Sans Regular" pitchFamily="34" charset="-120"/>
              </a:rPr>
              <a:t>и отчетов, формируемых в системе; подсистема администрирования</a:t>
            </a:r>
            <a:br>
              <a:rPr lang="ru-RU" sz="1600" dirty="0">
                <a:solidFill>
                  <a:srgbClr val="16161A">
                    <a:alpha val="100000"/>
                  </a:srgbClr>
                </a:solidFill>
                <a:ea typeface="Open Sans Regular" pitchFamily="34" charset="-122"/>
                <a:cs typeface="Open Sans Regular" pitchFamily="34" charset="-120"/>
              </a:rPr>
            </a:br>
            <a:r>
              <a:rPr lang="ru-RU" sz="1600" dirty="0">
                <a:solidFill>
                  <a:srgbClr val="16161A">
                    <a:alpha val="100000"/>
                  </a:srgbClr>
                </a:solidFill>
                <a:ea typeface="Open Sans Regular" pitchFamily="34" charset="-122"/>
                <a:cs typeface="Open Sans Regular" pitchFamily="34" charset="-120"/>
              </a:rPr>
              <a:t>и конфигурирования; логирование и мониторинг событий;</a:t>
            </a:r>
            <a:br>
              <a:rPr lang="ru-RU" sz="1600" dirty="0">
                <a:solidFill>
                  <a:srgbClr val="16161A">
                    <a:alpha val="100000"/>
                  </a:srgbClr>
                </a:solidFill>
                <a:ea typeface="Open Sans Regular" pitchFamily="34" charset="-122"/>
                <a:cs typeface="Open Sans Regular" pitchFamily="34" charset="-120"/>
              </a:rPr>
            </a:br>
            <a:r>
              <a:rPr lang="ru-RU" sz="1600" dirty="0">
                <a:solidFill>
                  <a:srgbClr val="16161A">
                    <a:alpha val="100000"/>
                  </a:srgbClr>
                </a:solidFill>
                <a:ea typeface="Open Sans Regular" pitchFamily="34" charset="-122"/>
                <a:cs typeface="Open Sans Regular" pitchFamily="34" charset="-120"/>
              </a:rPr>
              <a:t>ведение справочников; конфигурирование системы</a:t>
            </a: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7B3B1B9A-84F9-A884-756D-5B5ADE82AA86}"/>
              </a:ext>
            </a:extLst>
          </p:cNvPr>
          <p:cNvSpPr/>
          <p:nvPr/>
        </p:nvSpPr>
        <p:spPr>
          <a:xfrm>
            <a:off x="688776" y="7009725"/>
            <a:ext cx="7205158" cy="410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ru-RU" sz="1900" dirty="0">
                <a:solidFill>
                  <a:srgbClr val="16161A">
                    <a:alpha val="100000"/>
                  </a:srgbClr>
                </a:solidFill>
                <a:ea typeface="Cygre Bold" pitchFamily="34" charset="-122"/>
                <a:cs typeface="Cygre Bold" pitchFamily="34" charset="-120"/>
              </a:rPr>
              <a:t>ПОДСИСТЕМА УПРАВЛЕНИЯ ОТЧЕТНОСТЬЮ</a:t>
            </a:r>
          </a:p>
        </p:txBody>
      </p:sp>
      <p:pic>
        <p:nvPicPr>
          <p:cNvPr id="24" name="Image 4" descr=" ">
            <a:extLst>
              <a:ext uri="{FF2B5EF4-FFF2-40B4-BE49-F238E27FC236}">
                <a16:creationId xmlns:a16="http://schemas.microsoft.com/office/drawing/2014/main" id="{6F735F2E-49EA-B173-ECF9-865BE683FE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776" y="8464489"/>
            <a:ext cx="7380000" cy="9646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869640CD-E87D-2269-D9C8-F73E74CB6E21}"/>
              </a:ext>
            </a:extLst>
          </p:cNvPr>
          <p:cNvPicPr/>
          <p:nvPr/>
        </p:nvPicPr>
        <p:blipFill>
          <a:blip r:embed="rId7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12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5013" t="1223" r="12204" b="1214"/>
          <a:stretch>
            <a:fillRect/>
          </a:stretch>
        </p:blipFill>
        <p:spPr>
          <a:xfrm>
            <a:off x="8862885" y="1854299"/>
            <a:ext cx="6541069" cy="5977368"/>
          </a:xfrm>
          <a:custGeom>
            <a:avLst/>
            <a:gdLst>
              <a:gd name="connsiteX0" fmla="*/ 320506 w 6541069"/>
              <a:gd name="connsiteY0" fmla="*/ 0 h 5977368"/>
              <a:gd name="connsiteX1" fmla="*/ 6220563 w 6541069"/>
              <a:gd name="connsiteY1" fmla="*/ 0 h 5977368"/>
              <a:gd name="connsiteX2" fmla="*/ 6541069 w 6541069"/>
              <a:gd name="connsiteY2" fmla="*/ 320506 h 5977368"/>
              <a:gd name="connsiteX3" fmla="*/ 6541069 w 6541069"/>
              <a:gd name="connsiteY3" fmla="*/ 5656862 h 5977368"/>
              <a:gd name="connsiteX4" fmla="*/ 6220563 w 6541069"/>
              <a:gd name="connsiteY4" fmla="*/ 5977368 h 5977368"/>
              <a:gd name="connsiteX5" fmla="*/ 320506 w 6541069"/>
              <a:gd name="connsiteY5" fmla="*/ 5977368 h 5977368"/>
              <a:gd name="connsiteX6" fmla="*/ 0 w 6541069"/>
              <a:gd name="connsiteY6" fmla="*/ 5656862 h 5977368"/>
              <a:gd name="connsiteX7" fmla="*/ 0 w 6541069"/>
              <a:gd name="connsiteY7" fmla="*/ 320506 h 5977368"/>
              <a:gd name="connsiteX8" fmla="*/ 320506 w 6541069"/>
              <a:gd name="connsiteY8" fmla="*/ 0 h 597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41069" h="5977368">
                <a:moveTo>
                  <a:pt x="320506" y="0"/>
                </a:moveTo>
                <a:lnTo>
                  <a:pt x="6220563" y="0"/>
                </a:lnTo>
                <a:cubicBezTo>
                  <a:pt x="6397574" y="0"/>
                  <a:pt x="6541069" y="143495"/>
                  <a:pt x="6541069" y="320506"/>
                </a:cubicBezTo>
                <a:lnTo>
                  <a:pt x="6541069" y="5656862"/>
                </a:lnTo>
                <a:cubicBezTo>
                  <a:pt x="6541069" y="5833873"/>
                  <a:pt x="6397574" y="5977368"/>
                  <a:pt x="6220563" y="5977368"/>
                </a:cubicBezTo>
                <a:lnTo>
                  <a:pt x="320506" y="5977368"/>
                </a:lnTo>
                <a:cubicBezTo>
                  <a:pt x="143495" y="5977368"/>
                  <a:pt x="0" y="5833873"/>
                  <a:pt x="0" y="5656862"/>
                </a:cubicBezTo>
                <a:lnTo>
                  <a:pt x="0" y="320506"/>
                </a:lnTo>
                <a:cubicBezTo>
                  <a:pt x="0" y="143495"/>
                  <a:pt x="143495" y="0"/>
                  <a:pt x="32050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55879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13932-ED1F-7CC8-C597-920F11F11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 29" descr=" ">
            <a:extLst>
              <a:ext uri="{FF2B5EF4-FFF2-40B4-BE49-F238E27FC236}">
                <a16:creationId xmlns:a16="http://schemas.microsoft.com/office/drawing/2014/main" id="{B1696089-04F1-62AA-6F48-27F931227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806" y="317500"/>
            <a:ext cx="15494976" cy="8509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5FFB42F5-6D4C-ECE7-20DE-500380403F19}"/>
              </a:ext>
            </a:extLst>
          </p:cNvPr>
          <p:cNvSpPr/>
          <p:nvPr/>
        </p:nvSpPr>
        <p:spPr>
          <a:xfrm>
            <a:off x="688776" y="663331"/>
            <a:ext cx="12158543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ru-RU" sz="5500" dirty="0">
                <a:solidFill>
                  <a:srgbClr val="16161A">
                    <a:alpha val="100000"/>
                  </a:srgbClr>
                </a:solidFill>
                <a:ea typeface="Cygre Bold" pitchFamily="34" charset="-122"/>
                <a:cs typeface="Cygre Bold" pitchFamily="34" charset="-120"/>
              </a:rPr>
              <a:t>Пользователи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F5AF018-9F70-48DA-5EFB-00E76AB6E1DD}"/>
              </a:ext>
            </a:extLst>
          </p:cNvPr>
          <p:cNvSpPr/>
          <p:nvPr/>
        </p:nvSpPr>
        <p:spPr>
          <a:xfrm>
            <a:off x="693288" y="1604729"/>
            <a:ext cx="4680000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ru-RU" sz="1600" b="1" dirty="0">
                <a:solidFill>
                  <a:srgbClr val="1444A7"/>
                </a:solidFill>
                <a:ea typeface="Open Sans Regular" pitchFamily="2" charset="0"/>
                <a:cs typeface="Open Sans Regular" pitchFamily="2" charset="0"/>
              </a:rPr>
              <a:t>АРМ Оператора</a:t>
            </a:r>
            <a:endParaRPr lang="ru-RU" sz="200" dirty="0">
              <a:solidFill>
                <a:prstClr val="black"/>
              </a:solidFill>
              <a:ea typeface="Open Sans Regular" pitchFamily="2" charset="0"/>
              <a:cs typeface="Open Sans Regular" pitchFamily="2" charset="0"/>
            </a:endParaRPr>
          </a:p>
          <a:p>
            <a:pPr marL="173038" lvl="0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контроль и управление электронной очередью на отгрузку нефтепродуктов;</a:t>
            </a:r>
          </a:p>
          <a:p>
            <a:pPr marL="173038" lvl="0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активация заданий на отгрузку НП;</a:t>
            </a:r>
          </a:p>
          <a:p>
            <a:pPr marL="173038" lvl="0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внесение информации о водителях и ТС сторонних поклажедателей в справочник водителей и справочник ТС, выдача</a:t>
            </a:r>
            <a:b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</a:b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временной карты водителя;</a:t>
            </a:r>
          </a:p>
          <a:p>
            <a:pPr marL="173038" lvl="0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контроль за процессом отгрузки НП на АСН;</a:t>
            </a:r>
          </a:p>
          <a:p>
            <a:pPr marL="173038" lvl="0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обеспечение процесса приема НП</a:t>
            </a:r>
            <a:b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</a:b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и внутрибазовых перекачек;</a:t>
            </a:r>
          </a:p>
          <a:p>
            <a:pPr marL="173038" lvl="0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проведение измерений в резервуарах</a:t>
            </a:r>
            <a:b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</a:b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и цистернах;</a:t>
            </a:r>
          </a:p>
          <a:p>
            <a:pPr marL="173038" lvl="0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контроль получения в системе данных о факт. отпущенном / принятом количестве НП;</a:t>
            </a:r>
          </a:p>
          <a:p>
            <a:pPr marL="173038" lvl="0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регистрация отобранных проб.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1B4E14B-F345-036F-9834-AB818AE68338}"/>
              </a:ext>
            </a:extLst>
          </p:cNvPr>
          <p:cNvSpPr/>
          <p:nvPr/>
        </p:nvSpPr>
        <p:spPr>
          <a:xfrm>
            <a:off x="5670061" y="1604729"/>
            <a:ext cx="4680000" cy="4975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ru-RU" sz="1600" b="1" dirty="0">
                <a:solidFill>
                  <a:srgbClr val="1444A7"/>
                </a:solidFill>
                <a:ea typeface="Open Sans Regular" pitchFamily="2" charset="0"/>
                <a:cs typeface="Open Sans Regular" pitchFamily="2" charset="0"/>
              </a:rPr>
              <a:t>АРМ Мастера</a:t>
            </a:r>
            <a:endParaRPr lang="ru-RU" sz="200" dirty="0">
              <a:solidFill>
                <a:prstClr val="black"/>
              </a:solidFill>
              <a:ea typeface="Tahoma" pitchFamily="34" charset="0"/>
              <a:cs typeface="Tahoma" pitchFamily="34" charset="0"/>
            </a:endParaRP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прием-передача смены;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формирование и печать отчетов; 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мониторинг состояния резервуарного парка;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создание и активация заданий на прием НП;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создание и активация заданий</a:t>
            </a:r>
            <a:b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</a:b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на внутрибазовые перекачки;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создание и активация заявок на отбор проб</a:t>
            </a:r>
            <a:b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</a:b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и проведение испытаний;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создание и активация заданий</a:t>
            </a:r>
            <a:b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</a:b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на восстановление качества;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осуществление контроля за ходом выполнения фактических заданий;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изменение статусов резервуаров;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регистрация фактов приема некондиционного НП и факта поставки НП в количестве, превышающем нормы погрешности;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согласование плановых заданий на поверку;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подтверждение готовности СИ к поверке.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1A99FED1-3AD4-15CE-1B44-D629F1EADC40}"/>
              </a:ext>
            </a:extLst>
          </p:cNvPr>
          <p:cNvSpPr/>
          <p:nvPr/>
        </p:nvSpPr>
        <p:spPr>
          <a:xfrm>
            <a:off x="693288" y="5711873"/>
            <a:ext cx="4680000" cy="2103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ru-RU" sz="1600" b="1" dirty="0">
                <a:solidFill>
                  <a:srgbClr val="1444A7"/>
                </a:solidFill>
                <a:ea typeface="Open Sans Regular" pitchFamily="2" charset="0"/>
                <a:cs typeface="Open Sans Regular" pitchFamily="2" charset="0"/>
              </a:rPr>
              <a:t>АРМ Администратора</a:t>
            </a:r>
            <a:endParaRPr lang="ru-RU" sz="200" dirty="0">
              <a:solidFill>
                <a:prstClr val="black"/>
              </a:solidFill>
              <a:ea typeface="Tahoma" pitchFamily="34" charset="0"/>
              <a:cs typeface="Tahoma" pitchFamily="34" charset="0"/>
            </a:endParaRP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ведение справочника пользователей;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конфигурирования </a:t>
            </a:r>
            <a:r>
              <a:rPr lang="ru-RU" sz="1400" dirty="0" err="1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технол</a:t>
            </a: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. схемы НБ;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конфигурирование взаимодействия с АСУ ТП;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выполнение регламентных работ</a:t>
            </a:r>
            <a:b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</a:b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по резервному копированию;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выполнение работ по обновлению ПО</a:t>
            </a:r>
            <a:b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</a:b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в случае выпуска новой версии.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AA8E1630-94CB-2D00-8E52-98EBDC96635B}"/>
              </a:ext>
            </a:extLst>
          </p:cNvPr>
          <p:cNvSpPr/>
          <p:nvPr/>
        </p:nvSpPr>
        <p:spPr>
          <a:xfrm>
            <a:off x="10646833" y="1474099"/>
            <a:ext cx="468000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ru-RU" sz="1600" b="1" dirty="0">
                <a:solidFill>
                  <a:srgbClr val="1444A7"/>
                </a:solidFill>
                <a:ea typeface="Open Sans Regular" pitchFamily="2" charset="0"/>
                <a:cs typeface="Open Sans Regular" pitchFamily="2" charset="0"/>
              </a:rPr>
              <a:t>АРМ Лаборанта</a:t>
            </a:r>
            <a:endParaRPr lang="ru-RU" sz="200" dirty="0">
              <a:solidFill>
                <a:prstClr val="black"/>
              </a:solidFill>
              <a:ea typeface="Tahoma" pitchFamily="34" charset="0"/>
              <a:cs typeface="Tahoma" pitchFamily="34" charset="0"/>
            </a:endParaRPr>
          </a:p>
          <a:p>
            <a:pPr marL="173038" lvl="0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создание и активация заявок на отбор проб</a:t>
            </a:r>
            <a:b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</a:b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и проведение испытаний;</a:t>
            </a:r>
          </a:p>
          <a:p>
            <a:pPr marL="173038" lvl="0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регистрация отобранных проб;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подготовка комплекта документов.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4CB39D30-926C-3756-9B17-0723F3565D11}"/>
              </a:ext>
            </a:extLst>
          </p:cNvPr>
          <p:cNvSpPr/>
          <p:nvPr/>
        </p:nvSpPr>
        <p:spPr>
          <a:xfrm>
            <a:off x="5670061" y="6640119"/>
            <a:ext cx="4680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ru-RU" sz="1600" b="1" dirty="0">
                <a:solidFill>
                  <a:srgbClr val="1444A7"/>
                </a:solidFill>
                <a:ea typeface="Open Sans Regular" pitchFamily="2" charset="0"/>
                <a:cs typeface="Open Sans Regular" pitchFamily="2" charset="0"/>
              </a:rPr>
              <a:t>АРМ Начальника НБ</a:t>
            </a:r>
            <a:endParaRPr lang="ru-RU" sz="200" dirty="0">
              <a:solidFill>
                <a:prstClr val="black"/>
              </a:solidFill>
              <a:ea typeface="Tahoma" pitchFamily="34" charset="0"/>
              <a:cs typeface="Tahoma" pitchFamily="34" charset="0"/>
            </a:endParaRP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мониторинг состояния резервуарного парка;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мониторинг выполнения технологических процессов на технологической схеме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обеспечение подготовки комплекта документов для оформления мероприятий</a:t>
            </a:r>
            <a:b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</a:b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по восстановлению качества НП на НБ;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45C78B8A-DF7F-7BAC-C857-333B712D0BC1}"/>
              </a:ext>
            </a:extLst>
          </p:cNvPr>
          <p:cNvSpPr/>
          <p:nvPr/>
        </p:nvSpPr>
        <p:spPr>
          <a:xfrm>
            <a:off x="10646833" y="2963563"/>
            <a:ext cx="4680000" cy="1620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ru-RU" sz="1600" b="1" dirty="0">
                <a:solidFill>
                  <a:srgbClr val="1444A7"/>
                </a:solidFill>
                <a:ea typeface="Open Sans Regular" pitchFamily="2" charset="0"/>
                <a:cs typeface="Open Sans Regular" pitchFamily="2" charset="0"/>
              </a:rPr>
              <a:t>АРМ Начальника лаборатории</a:t>
            </a:r>
            <a:endParaRPr lang="ru-RU" sz="200" dirty="0">
              <a:solidFill>
                <a:prstClr val="black"/>
              </a:solidFill>
              <a:ea typeface="Tahoma" pitchFamily="34" charset="0"/>
              <a:cs typeface="Tahoma" pitchFamily="34" charset="0"/>
            </a:endParaRPr>
          </a:p>
          <a:p>
            <a:pPr marL="173038" lvl="0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создание и активация заявок на отбор проб</a:t>
            </a:r>
            <a:b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</a:b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и проведение испытаний;</a:t>
            </a:r>
          </a:p>
          <a:p>
            <a:pPr marL="173038" lvl="0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регистрация отобранных проб;</a:t>
            </a:r>
          </a:p>
          <a:p>
            <a:pPr marL="173038" lvl="0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подготовка комплекта документов;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настройка плана качества.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2CC97F7F-6E2D-41B6-A5C9-C2AA39B9D60A}"/>
              </a:ext>
            </a:extLst>
          </p:cNvPr>
          <p:cNvSpPr/>
          <p:nvPr/>
        </p:nvSpPr>
        <p:spPr>
          <a:xfrm>
            <a:off x="10646833" y="4719767"/>
            <a:ext cx="4680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ru-RU" sz="1600" b="1" dirty="0">
                <a:solidFill>
                  <a:srgbClr val="1444A7"/>
                </a:solidFill>
                <a:ea typeface="Open Sans Regular" pitchFamily="2" charset="0"/>
                <a:cs typeface="Open Sans Regular" pitchFamily="2" charset="0"/>
              </a:rPr>
              <a:t>АРМ Охранника НБ</a:t>
            </a:r>
            <a:endParaRPr lang="ru-RU" sz="200" dirty="0">
              <a:solidFill>
                <a:prstClr val="black"/>
              </a:solidFill>
              <a:ea typeface="Tahoma" pitchFamily="34" charset="0"/>
              <a:cs typeface="Tahoma" pitchFamily="34" charset="0"/>
            </a:endParaRP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контроль въезда / выезда бензовозов</a:t>
            </a:r>
            <a:b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</a:b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на территорию НБ;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регистрация выявленных несоответствий Водителя и бензовоза;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контроль наличия остатка жидкости в ТС</a:t>
            </a:r>
            <a:b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</a:b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при въезде бензовоза.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737D2B76-2F0A-4D08-195A-3C84FDC26954}"/>
              </a:ext>
            </a:extLst>
          </p:cNvPr>
          <p:cNvSpPr/>
          <p:nvPr/>
        </p:nvSpPr>
        <p:spPr>
          <a:xfrm>
            <a:off x="10646833" y="6640119"/>
            <a:ext cx="4680000" cy="1836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ru-RU" sz="1600" b="1" dirty="0">
                <a:solidFill>
                  <a:srgbClr val="1444A7"/>
                </a:solidFill>
                <a:ea typeface="Open Sans Regular" pitchFamily="2" charset="0"/>
                <a:cs typeface="Open Sans Regular" pitchFamily="2" charset="0"/>
              </a:rPr>
              <a:t>АРМ Водителя</a:t>
            </a:r>
            <a:endParaRPr lang="ru-RU" sz="200" dirty="0">
              <a:solidFill>
                <a:prstClr val="black"/>
              </a:solidFill>
              <a:ea typeface="Tahoma" pitchFamily="34" charset="0"/>
              <a:cs typeface="Tahoma" pitchFamily="34" charset="0"/>
            </a:endParaRPr>
          </a:p>
          <a:p>
            <a:pPr marL="173038" lvl="0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регистрация в электронной очереди на налив;</a:t>
            </a:r>
          </a:p>
          <a:p>
            <a:pPr marL="173038" lvl="0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отслеживание электронной очереди</a:t>
            </a:r>
            <a:b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</a:b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на информационном табло;</a:t>
            </a:r>
          </a:p>
          <a:p>
            <a:pPr marL="173038" lvl="0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подготовка ТС к сливу/наливу НП и контроль процесса приема/отпуска НП;</a:t>
            </a:r>
          </a:p>
          <a:p>
            <a:pPr marL="173038" indent="-173038" hangingPunct="0">
              <a:spcBef>
                <a:spcPts val="200"/>
              </a:spcBef>
              <a:spcAft>
                <a:spcPts val="200"/>
              </a:spcAft>
              <a:buClr>
                <a:srgbClr val="1444A7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prstClr val="black"/>
                </a:solidFill>
                <a:ea typeface="Open Sans Regular" pitchFamily="2" charset="0"/>
                <a:cs typeface="Open Sans Regular" pitchFamily="2" charset="0"/>
              </a:rPr>
              <a:t>пломбировка ТС перед выездом с НБ.</a:t>
            </a:r>
          </a:p>
        </p:txBody>
      </p:sp>
    </p:spTree>
    <p:extLst>
      <p:ext uri="{BB962C8B-B14F-4D97-AF65-F5344CB8AC3E}">
        <p14:creationId xmlns:p14="http://schemas.microsoft.com/office/powerpoint/2010/main" val="1700101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4915</TotalTime>
  <Words>1115</Words>
  <Application>Microsoft Office PowerPoint</Application>
  <PresentationFormat>Произвольный</PresentationFormat>
  <Paragraphs>154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4" baseType="lpstr">
      <vt:lpstr>Arial</vt:lpstr>
      <vt:lpstr>Cygre Bold</vt:lpstr>
      <vt:lpstr>Cygre SemiBold SemiBold</vt:lpstr>
      <vt:lpstr>Open Sans Medium</vt:lpstr>
      <vt:lpstr>Open Sans Regular</vt:lpstr>
      <vt:lpstr>Poppins SemiBold</vt:lpstr>
      <vt:lpstr>Tahoma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Dmitry Vereshchagin</cp:lastModifiedBy>
  <cp:revision>89</cp:revision>
  <dcterms:created xsi:type="dcterms:W3CDTF">2025-02-13T17:53:31Z</dcterms:created>
  <dcterms:modified xsi:type="dcterms:W3CDTF">2025-09-01T07:35:43Z</dcterms:modified>
</cp:coreProperties>
</file>